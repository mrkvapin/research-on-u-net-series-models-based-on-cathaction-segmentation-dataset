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4" r:id="rId5"/>
    <p:sldId id="265" r:id="rId6"/>
    <p:sldId id="259" r:id="rId7"/>
    <p:sldId id="263" r:id="rId8"/>
    <p:sldId id="260" r:id="rId9"/>
    <p:sldId id="261"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277" autoAdjust="0"/>
  </p:normalViewPr>
  <p:slideViewPr>
    <p:cSldViewPr snapToGrid="0" snapToObjects="1">
      <p:cViewPr varScale="1">
        <p:scale>
          <a:sx n="86" d="100"/>
          <a:sy n="86" d="100"/>
        </p:scale>
        <p:origin x="98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1020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ltLang="zh-CN" dirty="0"/>
              <a:t>Hello Dr. Chen, my project is titled "Catheter Segmentation with U-Net family". My name is </a:t>
            </a:r>
            <a:r>
              <a:rPr lang="en-US" altLang="zh-CN" dirty="0" err="1"/>
              <a:t>kaijie.yang</a:t>
            </a:r>
            <a:r>
              <a:rPr lang="en-US" altLang="zh-CN" dirty="0"/>
              <a:t>. In this project, I focus on exploring what kind of u-net model or model parameter configuration can effectively perform the segmentation task on the </a:t>
            </a:r>
            <a:r>
              <a:rPr lang="en-US" altLang="zh-CN" dirty="0" err="1"/>
              <a:t>CathAction</a:t>
            </a:r>
            <a:r>
              <a:rPr lang="en-US" altLang="zh-CN" dirty="0"/>
              <a:t> dataset. As you can see, the evaluation method for this project is to examine the Mean Dice / Mean </a:t>
            </a:r>
            <a:r>
              <a:rPr lang="en-US" altLang="zh-CN" dirty="0" err="1"/>
              <a:t>IoU</a:t>
            </a:r>
            <a:r>
              <a:rPr lang="en-US" altLang="zh-CN" dirty="0"/>
              <a:t> of the model training. The final prediction results are output, and these two parameters are used to evaluate the quality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ltLang="zh-CN" dirty="0"/>
              <a:t>The first part I want to introduce is the project overview. First, the motivation: Accurate segmentation of catheters or wires in the x-ray image dataset is challenging. The dataset has weak structure, low contrast, and is easily confused with the background. I also want to verify whether mainstream segmentation models can effectively perform the task of segmenting the target image.</a:t>
            </a:r>
          </a:p>
          <a:p>
            <a:endParaRPr lang="en-US" dirty="0"/>
          </a:p>
          <a:p>
            <a:r>
              <a:rPr lang="en-US" dirty="0"/>
              <a:t>The next part is my Original </a:t>
            </a:r>
            <a:r>
              <a:rPr lang="en-US" dirty="0" err="1"/>
              <a:t>objectives,build</a:t>
            </a:r>
            <a:r>
              <a:rPr lang="en-US" dirty="0"/>
              <a:t> a Repeatable training and evaluation workflow for semantic segmentation. Meanwhile, compare stronger U-Net family models on the same dataset split and metrics one by one. And use </a:t>
            </a:r>
            <a:r>
              <a:rPr lang="en-US" dirty="0" err="1"/>
              <a:t>visualisation</a:t>
            </a:r>
            <a:r>
              <a:rPr lang="en-US" dirty="0"/>
              <a:t> software to show model predictions.</a:t>
            </a:r>
          </a:p>
          <a:p>
            <a:endParaRPr lang="en-US" dirty="0"/>
          </a:p>
          <a:p>
            <a:r>
              <a:rPr lang="en-US" dirty="0"/>
              <a:t>And the last part is my Major conclusion. I found that R2U-net currently offers the best segmentation performance. And the Attention algorithm did not perform well on the dataset, and was even worse than the original U-net in some aspects.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The next part is Dataset and training </a:t>
            </a:r>
            <a:r>
              <a:rPr lang="en-US" dirty="0" err="1"/>
              <a:t>setup.The</a:t>
            </a:r>
            <a:r>
              <a:rPr lang="en-US" dirty="0"/>
              <a:t> </a:t>
            </a:r>
            <a:r>
              <a:rPr lang="en-US" dirty="0" err="1"/>
              <a:t>CathAction</a:t>
            </a:r>
            <a:r>
              <a:rPr lang="en-US" dirty="0"/>
              <a:t> dataset contains X-ray images of artificial tubes and biomimetic X-ray images, with the label files consisting of 2-class and 3-class classification </a:t>
            </a:r>
            <a:r>
              <a:rPr lang="en-US" dirty="0" err="1"/>
              <a:t>files.For</a:t>
            </a:r>
            <a:r>
              <a:rPr lang="en-US" dirty="0"/>
              <a:t> example, in a 3 class file, class 1 is the background, class 2 is the catheter, and class 3 is the wire.</a:t>
            </a:r>
          </a:p>
          <a:p>
            <a:endParaRPr lang="en-US" dirty="0"/>
          </a:p>
          <a:p>
            <a:r>
              <a:rPr lang="en-US" dirty="0"/>
              <a:t>Regarding the preprocessing pipeline, the first step is to input images and masks, which are checked by the </a:t>
            </a:r>
            <a:r>
              <a:rPr lang="en-US" dirty="0" err="1"/>
              <a:t>datacheck</a:t>
            </a:r>
            <a:r>
              <a:rPr lang="en-US" dirty="0"/>
              <a:t> Python program. The images are then resized to a specific resolution to suit different models. Next, the data undergoes a data processing flow including augmentation, flipping, affine removal, and noise reduction. Finally, tensor and normalization adjustments are performed.</a:t>
            </a:r>
          </a:p>
          <a:p>
            <a:endParaRPr lang="en-US" dirty="0"/>
          </a:p>
          <a:p>
            <a:r>
              <a:rPr lang="en-US" dirty="0"/>
              <a:t>About the data check program, it checks if the number of images and masks in the training set is consistent. The code first reads the image set and the mask set, and then checks the number of files in both folders is the same. At the same time, it will randomly sample and check if the mask data format is normal. Check if the tag files are three-class or two-class files, and mark any problematic files.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ltLang="zh-CN" dirty="0"/>
              <a:t>The third part is model progression. This project used four different u-net algorithms, each with its own characteristics and suitable for different training tasks.</a:t>
            </a:r>
          </a:p>
          <a:p>
            <a:endParaRPr lang="en-US" dirty="0"/>
          </a:p>
          <a:p>
            <a:r>
              <a:rPr lang="en-US" altLang="zh-CN" dirty="0"/>
              <a:t>A more detailed design involved each model undergoing parameter tuning and adaptation on the </a:t>
            </a:r>
            <a:r>
              <a:rPr lang="en-US" altLang="zh-CN" dirty="0" err="1"/>
              <a:t>CathAction</a:t>
            </a:r>
            <a:r>
              <a:rPr lang="en-US" altLang="zh-CN" dirty="0"/>
              <a:t> dataset, and being extensively trained and debugged to achieve optimal performance. For verifying the predictive capabilities of the trained models, this project includes a simple front-end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FFCB6-D23A-837C-4826-13F4E98D7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2375B-FC56-8F3A-727F-184A84394D0F}"/>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F71A3F8C-BC84-5BCA-6019-2CE9DA1861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EBD2CA-5CC3-1A4F-29C4-4543618063A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72305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ltLang="zh-CN" dirty="0"/>
              <a:t>In the final software product part, I will explain the basic framework of the program's operation. The first is Data loader, this part read the </a:t>
            </a:r>
            <a:r>
              <a:rPr lang="en-US" altLang="zh-CN" dirty="0" err="1"/>
              <a:t>CathAction</a:t>
            </a:r>
            <a:r>
              <a:rPr lang="en-US" altLang="zh-CN" dirty="0"/>
              <a:t> dataset, cleans the data, and then inputs it into the program for training. The next is the train models, separate to train U-Net, R2U-Net, Attention U-Net and Attention R2U-Net. Meanwhile, the Save best model part will catch the best solution in the different epochs. Finally the model will be tested on the Evaluate program, and show their score.</a:t>
            </a:r>
          </a:p>
          <a:p>
            <a:endParaRPr lang="en-US" dirty="0"/>
          </a:p>
          <a:p>
            <a:r>
              <a:rPr lang="en-US" dirty="0"/>
              <a:t>In this part, I would emphasize something. The codebase is modular: dataset, architecture, loss, training loop and evaluation are clearly separated. At the same time, the project moved from a baseline to a family of stronger architectures while keeping the same task and metrics. And about the product, it is easier to extend with new datasets, losses or checkpoints.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In the final part, there are some interesting questions. The first is what went well. To be honest, a complete end-to-end segmentation workflow was implemented: preprocessing, training, checkpointing and testing. And a clear model training plan, with progressively advancing model versions, is a very important part of this </a:t>
            </a:r>
            <a:r>
              <a:rPr lang="en-US" dirty="0" err="1"/>
              <a:t>project.Meanwhile</a:t>
            </a:r>
            <a:r>
              <a:rPr lang="en-US" dirty="0"/>
              <a:t>, since different types of U-Net exhibit varying performance on the training set, their fit to the </a:t>
            </a:r>
            <a:r>
              <a:rPr lang="en-US" dirty="0" err="1"/>
              <a:t>cathaction</a:t>
            </a:r>
            <a:r>
              <a:rPr lang="en-US" dirty="0"/>
              <a:t> dataset warrants further investigation.</a:t>
            </a:r>
          </a:p>
          <a:p>
            <a:endParaRPr lang="en-US" dirty="0"/>
          </a:p>
          <a:p>
            <a:r>
              <a:rPr lang="en-US" altLang="zh-CN" dirty="0"/>
              <a:t>Compared to the initial research, this project added the following: We no longer used a single model architecture; it expanded into a controlled comparison of four variants. And we found a prediction model that is better suited to X-ray images and an algorithmic solution.</a:t>
            </a:r>
          </a:p>
          <a:p>
            <a:endParaRPr lang="en-US" dirty="0"/>
          </a:p>
          <a:p>
            <a:r>
              <a:rPr lang="en-US" dirty="0"/>
              <a:t>Finally is the current limitation. The research results show that the accuracy improvement trend is not significant, which seems to be because the model and dataset have reached their limits, making further </a:t>
            </a:r>
            <a:r>
              <a:rPr lang="en-US" dirty="0" err="1"/>
              <a:t>optimisation</a:t>
            </a:r>
            <a:r>
              <a:rPr lang="en-US" dirty="0"/>
              <a:t> impossible. Meanwhile, the performance </a:t>
            </a:r>
            <a:r>
              <a:rPr lang="en-US" dirty="0" err="1"/>
              <a:t>optimisation</a:t>
            </a:r>
            <a:r>
              <a:rPr lang="en-US"/>
              <a:t> mentioned in the research proposal is very difficult to achieve, and such a task cannot be completed at this stage of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23B5D"/>
          </a:solidFill>
          <a:ln w="12700">
            <a:solidFill>
              <a:srgbClr val="123B5D"/>
            </a:solidFill>
            <a:prstDash val="solid"/>
          </a:ln>
        </p:spPr>
        <p:txBody>
          <a:bodyPr/>
          <a:lstStyle/>
          <a:p>
            <a:endParaRPr lang="zh-CN" altLang="en-US"/>
          </a:p>
        </p:txBody>
      </p:sp>
      <p:sp>
        <p:nvSpPr>
          <p:cNvPr id="3" name="Shape 1"/>
          <p:cNvSpPr/>
          <p:nvPr/>
        </p:nvSpPr>
        <p:spPr>
          <a:xfrm>
            <a:off x="0" y="6565392"/>
            <a:ext cx="12191695" cy="292608"/>
          </a:xfrm>
          <a:prstGeom prst="rect">
            <a:avLst/>
          </a:prstGeom>
          <a:solidFill>
            <a:srgbClr val="123B5D"/>
          </a:solidFill>
          <a:ln w="12700">
            <a:solidFill>
              <a:srgbClr val="123B5D"/>
            </a:solidFill>
            <a:prstDash val="solid"/>
          </a:ln>
        </p:spPr>
        <p:txBody>
          <a:bodyPr/>
          <a:lstStyle/>
          <a:p>
            <a:endParaRPr lang="zh-CN" altLang="en-US"/>
          </a:p>
        </p:txBody>
      </p:sp>
      <p:sp>
        <p:nvSpPr>
          <p:cNvPr id="25" name="Slide Number Placeholder 0"/>
          <p:cNvSpPr>
            <a:spLocks noGrp="1"/>
          </p:cNvSpPr>
          <p:nvPr>
            <p:ph type="sldNum" sz="quarter" idx="4294967295"/>
          </p:nvPr>
        </p:nvSpPr>
        <p:spPr>
          <a:xfrm>
            <a:off x="11612880" y="6574536"/>
            <a:ext cx="36576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574536"/>
            <a:ext cx="36576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13232" y="1005840"/>
            <a:ext cx="10789920" cy="4480560"/>
          </a:xfrm>
          <a:prstGeom prst="roundRect">
            <a:avLst>
              <a:gd name="adj" fmla="val 1633"/>
            </a:avLst>
          </a:prstGeom>
          <a:solidFill>
            <a:srgbClr val="FFFFFF"/>
          </a:solidFill>
          <a:ln w="12700">
            <a:solidFill>
              <a:srgbClr val="D7E1EA"/>
            </a:solidFill>
            <a:prstDash val="solid"/>
          </a:ln>
          <a:effectLst>
            <a:outerShdw blurRad="12700" dist="12700" dir="2700000" algn="bl" rotWithShape="0">
              <a:srgbClr val="000000">
                <a:alpha val="14000"/>
              </a:srgbClr>
            </a:outerShdw>
          </a:effectLst>
        </p:spPr>
        <p:txBody>
          <a:bodyPr/>
          <a:lstStyle/>
          <a:p>
            <a:endParaRPr lang="zh-CN" altLang="en-US"/>
          </a:p>
        </p:txBody>
      </p:sp>
      <p:sp>
        <p:nvSpPr>
          <p:cNvPr id="3" name="Shape 1"/>
          <p:cNvSpPr/>
          <p:nvPr/>
        </p:nvSpPr>
        <p:spPr>
          <a:xfrm>
            <a:off x="713232" y="1005840"/>
            <a:ext cx="201168" cy="4480560"/>
          </a:xfrm>
          <a:prstGeom prst="rect">
            <a:avLst/>
          </a:prstGeom>
          <a:solidFill>
            <a:srgbClr val="2A9D8F"/>
          </a:solidFill>
          <a:ln w="12700">
            <a:solidFill>
              <a:srgbClr val="2A9D8F"/>
            </a:solidFill>
            <a:prstDash val="solid"/>
          </a:ln>
        </p:spPr>
        <p:txBody>
          <a:bodyPr/>
          <a:lstStyle/>
          <a:p>
            <a:endParaRPr lang="zh-CN" altLang="en-US"/>
          </a:p>
        </p:txBody>
      </p:sp>
      <p:sp>
        <p:nvSpPr>
          <p:cNvPr id="4" name="Text 2"/>
          <p:cNvSpPr/>
          <p:nvPr/>
        </p:nvSpPr>
        <p:spPr>
          <a:xfrm>
            <a:off x="1143000" y="1353312"/>
            <a:ext cx="6492240" cy="768096"/>
          </a:xfrm>
          <a:prstGeom prst="rect">
            <a:avLst/>
          </a:prstGeom>
          <a:noFill/>
          <a:ln/>
        </p:spPr>
        <p:txBody>
          <a:bodyPr wrap="square" lIns="0" tIns="0" rIns="0" bIns="0" rtlCol="0" anchor="ctr"/>
          <a:lstStyle/>
          <a:p>
            <a:r>
              <a:rPr lang="en-US" sz="2800" b="1" dirty="0">
                <a:solidFill>
                  <a:srgbClr val="123B5D"/>
                </a:solidFill>
                <a:latin typeface="Aptos Display" pitchFamily="34" charset="0"/>
                <a:ea typeface="Aptos Display" pitchFamily="34" charset="-122"/>
                <a:cs typeface="Aptos Display" pitchFamily="34" charset="-120"/>
              </a:rPr>
              <a:t>Catheter Segmentation with U-Net </a:t>
            </a:r>
            <a:r>
              <a:rPr lang="en-US" altLang="zh-CN" sz="2800" b="1" dirty="0">
                <a:solidFill>
                  <a:srgbClr val="123B5D"/>
                </a:solidFill>
                <a:latin typeface="Aptos Display" pitchFamily="34" charset="0"/>
              </a:rPr>
              <a:t>family</a:t>
            </a:r>
            <a:r>
              <a:rPr lang="en-US" sz="2800" b="1" dirty="0">
                <a:solidFill>
                  <a:srgbClr val="123B5D"/>
                </a:solidFill>
                <a:latin typeface="Aptos Display" pitchFamily="34" charset="0"/>
              </a:rPr>
              <a:t> </a:t>
            </a:r>
            <a:r>
              <a:rPr lang="en-US" sz="2800" b="1" dirty="0">
                <a:solidFill>
                  <a:srgbClr val="123B5D"/>
                </a:solidFill>
                <a:latin typeface="Aptos Display" pitchFamily="34" charset="0"/>
                <a:ea typeface="Aptos Display" pitchFamily="34" charset="-122"/>
                <a:cs typeface="Aptos Display" pitchFamily="34" charset="-120"/>
              </a:rPr>
              <a:t> </a:t>
            </a:r>
            <a:endParaRPr lang="en-US" sz="2800" dirty="0"/>
          </a:p>
        </p:txBody>
      </p:sp>
      <p:sp>
        <p:nvSpPr>
          <p:cNvPr id="5" name="Text 3"/>
          <p:cNvSpPr/>
          <p:nvPr/>
        </p:nvSpPr>
        <p:spPr>
          <a:xfrm>
            <a:off x="1170432" y="2240280"/>
            <a:ext cx="5394960" cy="237744"/>
          </a:xfrm>
          <a:prstGeom prst="rect">
            <a:avLst/>
          </a:prstGeom>
          <a:noFill/>
          <a:ln/>
        </p:spPr>
        <p:txBody>
          <a:bodyPr wrap="square" lIns="0" tIns="0" rIns="0" bIns="0" rtlCol="0" anchor="ctr"/>
          <a:lstStyle/>
          <a:p>
            <a:pPr marL="0" indent="0">
              <a:buNone/>
            </a:pPr>
            <a:r>
              <a:rPr lang="en-US" sz="1400" dirty="0">
                <a:solidFill>
                  <a:srgbClr val="5B6678"/>
                </a:solidFill>
              </a:rPr>
              <a:t>K</a:t>
            </a:r>
            <a:r>
              <a:rPr lang="en-US" altLang="zh-CN" sz="1400" dirty="0">
                <a:solidFill>
                  <a:srgbClr val="5B6678"/>
                </a:solidFill>
              </a:rPr>
              <a:t>aijie.Yang 	ID:201690423</a:t>
            </a:r>
            <a:endParaRPr lang="en-US" sz="1400" dirty="0"/>
          </a:p>
        </p:txBody>
      </p:sp>
      <p:sp>
        <p:nvSpPr>
          <p:cNvPr id="6" name="Text 4"/>
          <p:cNvSpPr/>
          <p:nvPr/>
        </p:nvSpPr>
        <p:spPr>
          <a:xfrm>
            <a:off x="1170432" y="2788920"/>
            <a:ext cx="1097280" cy="310896"/>
          </a:xfrm>
          <a:prstGeom prst="rect">
            <a:avLst/>
          </a:prstGeom>
          <a:solidFill>
            <a:srgbClr val="2A9D8F"/>
          </a:solidFill>
          <a:ln>
            <a:solidFill>
              <a:srgbClr val="2A9D8F"/>
            </a:solidFill>
          </a:ln>
        </p:spPr>
        <p:txBody>
          <a:bodyPr wrap="square" lIns="254" tIns="254" rIns="254" bIns="254" rtlCol="0" anchor="ctr"/>
          <a:lstStyle/>
          <a:p>
            <a:pPr marL="0" indent="0" algn="ctr">
              <a:buNone/>
            </a:pPr>
            <a:r>
              <a:rPr lang="en-US" sz="1100" b="1" dirty="0">
                <a:solidFill>
                  <a:srgbClr val="FFFFFF"/>
                </a:solidFill>
              </a:rPr>
              <a:t>Problem</a:t>
            </a:r>
            <a:endParaRPr lang="en-US" sz="1100" dirty="0"/>
          </a:p>
        </p:txBody>
      </p:sp>
      <p:sp>
        <p:nvSpPr>
          <p:cNvPr id="7" name="Text 5"/>
          <p:cNvSpPr/>
          <p:nvPr/>
        </p:nvSpPr>
        <p:spPr>
          <a:xfrm>
            <a:off x="2395728" y="2788920"/>
            <a:ext cx="1188720" cy="310896"/>
          </a:xfrm>
          <a:prstGeom prst="rect">
            <a:avLst/>
          </a:prstGeom>
          <a:solidFill>
            <a:srgbClr val="5DA9E9"/>
          </a:solidFill>
          <a:ln>
            <a:solidFill>
              <a:srgbClr val="5DA9E9"/>
            </a:solidFill>
          </a:ln>
        </p:spPr>
        <p:txBody>
          <a:bodyPr wrap="square" lIns="254" tIns="254" rIns="254" bIns="254" rtlCol="0" anchor="ctr"/>
          <a:lstStyle/>
          <a:p>
            <a:pPr marL="0" indent="0" algn="ctr">
              <a:buNone/>
            </a:pPr>
            <a:r>
              <a:rPr lang="en-US" sz="1100" b="1" dirty="0">
                <a:solidFill>
                  <a:srgbClr val="FFFFFF"/>
                </a:solidFill>
              </a:rPr>
              <a:t>Models</a:t>
            </a:r>
            <a:endParaRPr lang="en-US" sz="1100" dirty="0"/>
          </a:p>
        </p:txBody>
      </p:sp>
      <p:sp>
        <p:nvSpPr>
          <p:cNvPr id="8" name="Text 6"/>
          <p:cNvSpPr/>
          <p:nvPr/>
        </p:nvSpPr>
        <p:spPr>
          <a:xfrm>
            <a:off x="3703320" y="2788920"/>
            <a:ext cx="1325880" cy="310896"/>
          </a:xfrm>
          <a:prstGeom prst="rect">
            <a:avLst/>
          </a:prstGeom>
          <a:solidFill>
            <a:srgbClr val="E9C46A"/>
          </a:solidFill>
          <a:ln>
            <a:solidFill>
              <a:srgbClr val="E9C46A"/>
            </a:solidFill>
          </a:ln>
        </p:spPr>
        <p:txBody>
          <a:bodyPr wrap="square" lIns="254" tIns="254" rIns="254" bIns="254" rtlCol="0" anchor="ctr"/>
          <a:lstStyle/>
          <a:p>
            <a:pPr marL="0" indent="0" algn="ctr">
              <a:buNone/>
            </a:pPr>
            <a:r>
              <a:rPr lang="en-US" sz="1100" b="1" dirty="0">
                <a:solidFill>
                  <a:srgbClr val="FFFFFF"/>
                </a:solidFill>
              </a:rPr>
              <a:t>Pipeline</a:t>
            </a:r>
            <a:endParaRPr lang="en-US" sz="1100" dirty="0"/>
          </a:p>
        </p:txBody>
      </p:sp>
      <p:sp>
        <p:nvSpPr>
          <p:cNvPr id="9" name="Text 7"/>
          <p:cNvSpPr/>
          <p:nvPr/>
        </p:nvSpPr>
        <p:spPr>
          <a:xfrm>
            <a:off x="5166360" y="2788920"/>
            <a:ext cx="1417320" cy="310896"/>
          </a:xfrm>
          <a:prstGeom prst="rect">
            <a:avLst/>
          </a:prstGeom>
          <a:solidFill>
            <a:srgbClr val="E76F51"/>
          </a:solidFill>
          <a:ln>
            <a:solidFill>
              <a:srgbClr val="E76F51"/>
            </a:solidFill>
          </a:ln>
        </p:spPr>
        <p:txBody>
          <a:bodyPr wrap="square" lIns="254" tIns="254" rIns="254" bIns="254" rtlCol="0" anchor="ctr"/>
          <a:lstStyle/>
          <a:p>
            <a:pPr marL="0" indent="0" algn="ctr">
              <a:buNone/>
            </a:pPr>
            <a:r>
              <a:rPr lang="en-US" sz="1100" b="1" dirty="0">
                <a:solidFill>
                  <a:srgbClr val="FFFFFF"/>
                </a:solidFill>
              </a:rPr>
              <a:t>Evaluation</a:t>
            </a:r>
            <a:endParaRPr lang="en-US" sz="1100" dirty="0"/>
          </a:p>
        </p:txBody>
      </p:sp>
      <p:sp>
        <p:nvSpPr>
          <p:cNvPr id="10" name="Text 8"/>
          <p:cNvSpPr/>
          <p:nvPr/>
        </p:nvSpPr>
        <p:spPr>
          <a:xfrm>
            <a:off x="1170432" y="3570972"/>
            <a:ext cx="5669280" cy="768095"/>
          </a:xfrm>
          <a:prstGeom prst="rect">
            <a:avLst/>
          </a:prstGeom>
          <a:noFill/>
          <a:ln/>
        </p:spPr>
        <p:txBody>
          <a:bodyPr wrap="square" lIns="0" tIns="0" rIns="0" bIns="0" rtlCol="0" anchor="ctr"/>
          <a:lstStyle/>
          <a:p>
            <a:r>
              <a:rPr lang="en-US" sz="1600" i="1" dirty="0">
                <a:solidFill>
                  <a:srgbClr val="1F2937"/>
                </a:solidFill>
              </a:rPr>
              <a:t>Focus: What kind of u-net model or model parameter configuration can effectively perform the segmentation task on the CathAction dataset?</a:t>
            </a:r>
            <a:endParaRPr lang="en-US" sz="1600" dirty="0"/>
          </a:p>
        </p:txBody>
      </p:sp>
      <p:sp>
        <p:nvSpPr>
          <p:cNvPr id="11" name="Shape 9"/>
          <p:cNvSpPr/>
          <p:nvPr/>
        </p:nvSpPr>
        <p:spPr>
          <a:xfrm>
            <a:off x="8046720" y="1463040"/>
            <a:ext cx="2606040" cy="1051560"/>
          </a:xfrm>
          <a:prstGeom prst="roundRect">
            <a:avLst>
              <a:gd name="adj" fmla="val 5217"/>
            </a:avLst>
          </a:prstGeom>
          <a:solidFill>
            <a:srgbClr val="F0F7F6"/>
          </a:solidFill>
          <a:ln w="12700">
            <a:solidFill>
              <a:srgbClr val="CBE7E3"/>
            </a:solidFill>
            <a:prstDash val="solid"/>
          </a:ln>
        </p:spPr>
        <p:txBody>
          <a:bodyPr/>
          <a:lstStyle/>
          <a:p>
            <a:endParaRPr lang="zh-CN" altLang="en-US"/>
          </a:p>
        </p:txBody>
      </p:sp>
      <p:sp>
        <p:nvSpPr>
          <p:cNvPr id="12" name="Text 10"/>
          <p:cNvSpPr/>
          <p:nvPr/>
        </p:nvSpPr>
        <p:spPr>
          <a:xfrm>
            <a:off x="8275320" y="1719072"/>
            <a:ext cx="2103120" cy="548640"/>
          </a:xfrm>
          <a:prstGeom prst="rect">
            <a:avLst/>
          </a:prstGeom>
          <a:noFill/>
          <a:ln/>
        </p:spPr>
        <p:txBody>
          <a:bodyPr wrap="square" lIns="0" tIns="0" rIns="0" bIns="0" rtlCol="0" anchor="ctr"/>
          <a:lstStyle/>
          <a:p>
            <a:pPr marL="0" indent="0" algn="ctr">
              <a:buNone/>
            </a:pPr>
            <a:r>
              <a:rPr lang="en-US" sz="1600" b="1" dirty="0">
                <a:solidFill>
                  <a:srgbClr val="2A9D8F"/>
                </a:solidFill>
              </a:rPr>
              <a:t>Task:</a:t>
            </a:r>
            <a:endParaRPr lang="en-US" sz="1600" dirty="0"/>
          </a:p>
          <a:p>
            <a:pPr marL="0" indent="0" algn="ctr">
              <a:buNone/>
            </a:pPr>
            <a:r>
              <a:rPr lang="en-US" sz="1600" b="1" dirty="0">
                <a:solidFill>
                  <a:srgbClr val="2A9D8F"/>
                </a:solidFill>
              </a:rPr>
              <a:t>Multi-class image segmentation</a:t>
            </a:r>
            <a:endParaRPr lang="en-US" sz="1600" dirty="0"/>
          </a:p>
        </p:txBody>
      </p:sp>
      <p:sp>
        <p:nvSpPr>
          <p:cNvPr id="13" name="Shape 11"/>
          <p:cNvSpPr/>
          <p:nvPr/>
        </p:nvSpPr>
        <p:spPr>
          <a:xfrm>
            <a:off x="8046720" y="2743200"/>
            <a:ext cx="2606040" cy="1051560"/>
          </a:xfrm>
          <a:prstGeom prst="roundRect">
            <a:avLst>
              <a:gd name="adj" fmla="val 5217"/>
            </a:avLst>
          </a:prstGeom>
          <a:solidFill>
            <a:srgbClr val="F4F7FB"/>
          </a:solidFill>
          <a:ln w="12700">
            <a:solidFill>
              <a:srgbClr val="D3DFEC"/>
            </a:solidFill>
            <a:prstDash val="solid"/>
          </a:ln>
        </p:spPr>
        <p:txBody>
          <a:bodyPr/>
          <a:lstStyle/>
          <a:p>
            <a:endParaRPr lang="zh-CN" altLang="en-US"/>
          </a:p>
        </p:txBody>
      </p:sp>
      <p:sp>
        <p:nvSpPr>
          <p:cNvPr id="14" name="Text 12"/>
          <p:cNvSpPr/>
          <p:nvPr/>
        </p:nvSpPr>
        <p:spPr>
          <a:xfrm>
            <a:off x="8275320" y="2999232"/>
            <a:ext cx="2103120" cy="548640"/>
          </a:xfrm>
          <a:prstGeom prst="rect">
            <a:avLst/>
          </a:prstGeom>
          <a:noFill/>
          <a:ln/>
        </p:spPr>
        <p:txBody>
          <a:bodyPr wrap="square" lIns="0" tIns="0" rIns="0" bIns="0" rtlCol="0" anchor="ctr"/>
          <a:lstStyle/>
          <a:p>
            <a:pPr marL="0" indent="0" algn="ctr">
              <a:buNone/>
            </a:pPr>
            <a:r>
              <a:rPr lang="en-US" sz="1600" b="1" dirty="0">
                <a:solidFill>
                  <a:srgbClr val="123B5D"/>
                </a:solidFill>
              </a:rPr>
              <a:t>Core metric:</a:t>
            </a:r>
            <a:endParaRPr lang="en-US" sz="1600" dirty="0"/>
          </a:p>
          <a:p>
            <a:pPr marL="0" indent="0" algn="ctr">
              <a:buNone/>
            </a:pPr>
            <a:r>
              <a:rPr lang="en-US" sz="1600" b="1" dirty="0">
                <a:solidFill>
                  <a:srgbClr val="123B5D"/>
                </a:solidFill>
              </a:rPr>
              <a:t>Mean Dice / Mean IoU</a:t>
            </a:r>
            <a:endParaRPr lang="en-US" sz="1600" dirty="0"/>
          </a:p>
        </p:txBody>
      </p:sp>
      <p:sp>
        <p:nvSpPr>
          <p:cNvPr id="15" name="Shape 13"/>
          <p:cNvSpPr/>
          <p:nvPr/>
        </p:nvSpPr>
        <p:spPr>
          <a:xfrm>
            <a:off x="8046720" y="4023360"/>
            <a:ext cx="2606040" cy="1051560"/>
          </a:xfrm>
          <a:prstGeom prst="roundRect">
            <a:avLst>
              <a:gd name="adj" fmla="val 5217"/>
            </a:avLst>
          </a:prstGeom>
          <a:solidFill>
            <a:srgbClr val="FDF7EF"/>
          </a:solidFill>
          <a:ln w="12700">
            <a:solidFill>
              <a:srgbClr val="F1DBAE"/>
            </a:solidFill>
            <a:prstDash val="solid"/>
          </a:ln>
        </p:spPr>
        <p:txBody>
          <a:bodyPr/>
          <a:lstStyle/>
          <a:p>
            <a:endParaRPr lang="zh-CN" altLang="en-US"/>
          </a:p>
        </p:txBody>
      </p:sp>
      <p:sp>
        <p:nvSpPr>
          <p:cNvPr id="16" name="Text 14"/>
          <p:cNvSpPr/>
          <p:nvPr/>
        </p:nvSpPr>
        <p:spPr>
          <a:xfrm>
            <a:off x="8211312" y="4279392"/>
            <a:ext cx="2267712" cy="548640"/>
          </a:xfrm>
          <a:prstGeom prst="rect">
            <a:avLst/>
          </a:prstGeom>
          <a:noFill/>
          <a:ln/>
        </p:spPr>
        <p:txBody>
          <a:bodyPr wrap="square" lIns="0" tIns="0" rIns="0" bIns="0" rtlCol="0" anchor="ctr"/>
          <a:lstStyle/>
          <a:p>
            <a:pPr marL="0" indent="0" algn="ctr">
              <a:buNone/>
            </a:pPr>
            <a:r>
              <a:rPr lang="en-US" sz="1600" b="1" dirty="0">
                <a:solidFill>
                  <a:srgbClr val="9A6A00"/>
                </a:solidFill>
              </a:rPr>
              <a:t>Outcome:</a:t>
            </a:r>
            <a:endParaRPr lang="en-US" sz="1600" dirty="0"/>
          </a:p>
          <a:p>
            <a:pPr algn="ctr"/>
            <a:r>
              <a:rPr lang="en-US" sz="1600" b="1" dirty="0">
                <a:solidFill>
                  <a:srgbClr val="9A6A00"/>
                </a:solidFill>
              </a:rPr>
              <a:t>Training results of different models</a:t>
            </a:r>
            <a:endParaRPr lang="en-US" sz="1600" dirty="0"/>
          </a:p>
        </p:txBody>
      </p:sp>
      <p:sp>
        <p:nvSpPr>
          <p:cNvPr id="25" name="Slide Number Placeholder 0"/>
          <p:cNvSpPr>
            <a:spLocks noGrp="1"/>
          </p:cNvSpPr>
          <p:nvPr>
            <p:ph type="sldNum" sz="quarter" idx="4294967295"/>
          </p:nvPr>
        </p:nvSpPr>
        <p:spPr>
          <a:xfrm>
            <a:off x="11612880" y="6574536"/>
            <a:ext cx="36576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1</a:t>
            </a:fld>
            <a:endParaRPr lang="en-US"/>
          </a:p>
        </p:txBody>
      </p:sp>
      <p:sp>
        <p:nvSpPr>
          <p:cNvPr id="17" name="文本框 16">
            <a:extLst>
              <a:ext uri="{FF2B5EF4-FFF2-40B4-BE49-F238E27FC236}">
                <a16:creationId xmlns:a16="http://schemas.microsoft.com/office/drawing/2014/main" id="{8B469B31-6D8D-C7D8-3ABE-1A1770BF8EBB}"/>
              </a:ext>
            </a:extLst>
          </p:cNvPr>
          <p:cNvSpPr txBox="1"/>
          <p:nvPr/>
        </p:nvSpPr>
        <p:spPr>
          <a:xfrm>
            <a:off x="1143000" y="4867745"/>
            <a:ext cx="4371278" cy="577081"/>
          </a:xfrm>
          <a:prstGeom prst="rect">
            <a:avLst/>
          </a:prstGeom>
          <a:noFill/>
        </p:spPr>
        <p:txBody>
          <a:bodyPr wrap="square" rtlCol="0">
            <a:spAutoFit/>
          </a:bodyPr>
          <a:lstStyle/>
          <a:p>
            <a:r>
              <a:rPr lang="en-US" altLang="zh-CN" sz="1050" b="1" dirty="0"/>
              <a:t>Statement of Ethical Compliance:</a:t>
            </a:r>
          </a:p>
          <a:p>
            <a:r>
              <a:rPr lang="en-US" altLang="zh-CN" sz="1050" dirty="0"/>
              <a:t>Data Category: No more than B</a:t>
            </a:r>
          </a:p>
          <a:p>
            <a:r>
              <a:rPr lang="en-US" altLang="zh-CN" sz="1050" dirty="0"/>
              <a:t>Participant Category: 0</a:t>
            </a:r>
            <a:endParaRPr lang="zh-CN" alt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8046720" cy="411480"/>
          </a:xfrm>
          <a:prstGeom prst="rect">
            <a:avLst/>
          </a:prstGeom>
          <a:noFill/>
          <a:ln/>
        </p:spPr>
        <p:txBody>
          <a:bodyPr wrap="square" lIns="0" tIns="0" rIns="0" bIns="0" rtlCol="0" anchor="ctr"/>
          <a:lstStyle/>
          <a:p>
            <a:pPr marL="0" indent="0">
              <a:buNone/>
            </a:pPr>
            <a:r>
              <a:rPr lang="en-US" sz="2600" b="1" dirty="0">
                <a:solidFill>
                  <a:srgbClr val="123B5D"/>
                </a:solidFill>
                <a:latin typeface="Aptos Display" pitchFamily="34" charset="0"/>
                <a:ea typeface="Aptos Display" pitchFamily="34" charset="-122"/>
                <a:cs typeface="Aptos Display" pitchFamily="34" charset="-120"/>
              </a:rPr>
              <a:t>1. Project overview</a:t>
            </a:r>
            <a:endParaRPr lang="en-US" sz="2600" dirty="0"/>
          </a:p>
        </p:txBody>
      </p:sp>
      <p:sp>
        <p:nvSpPr>
          <p:cNvPr id="3" name="Text 1"/>
          <p:cNvSpPr/>
          <p:nvPr/>
        </p:nvSpPr>
        <p:spPr>
          <a:xfrm>
            <a:off x="658368" y="841248"/>
            <a:ext cx="8046720" cy="256032"/>
          </a:xfrm>
          <a:prstGeom prst="rect">
            <a:avLst/>
          </a:prstGeom>
          <a:noFill/>
          <a:ln/>
        </p:spPr>
        <p:txBody>
          <a:bodyPr wrap="square" lIns="0" tIns="0" rIns="0" bIns="0" rtlCol="0" anchor="ctr"/>
          <a:lstStyle/>
          <a:p>
            <a:pPr marL="0" indent="0">
              <a:buNone/>
            </a:pPr>
            <a:r>
              <a:rPr lang="en-US" sz="1150" dirty="0">
                <a:solidFill>
                  <a:srgbClr val="5B6678"/>
                </a:solidFill>
              </a:rPr>
              <a:t>Motivation, target outcome, and the main contribution</a:t>
            </a:r>
            <a:endParaRPr lang="en-US" sz="1150" dirty="0"/>
          </a:p>
        </p:txBody>
      </p:sp>
      <p:sp>
        <p:nvSpPr>
          <p:cNvPr id="4" name="Shape 2"/>
          <p:cNvSpPr/>
          <p:nvPr/>
        </p:nvSpPr>
        <p:spPr>
          <a:xfrm>
            <a:off x="731520" y="1325880"/>
            <a:ext cx="3474720" cy="4526280"/>
          </a:xfrm>
          <a:prstGeom prst="roundRect">
            <a:avLst>
              <a:gd name="adj" fmla="val 2105"/>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5" name="Shape 3"/>
          <p:cNvSpPr/>
          <p:nvPr/>
        </p:nvSpPr>
        <p:spPr>
          <a:xfrm>
            <a:off x="749808" y="1344168"/>
            <a:ext cx="73152" cy="4489704"/>
          </a:xfrm>
          <a:prstGeom prst="rect">
            <a:avLst/>
          </a:prstGeom>
          <a:solidFill>
            <a:srgbClr val="2A9D8F"/>
          </a:solidFill>
          <a:ln w="12700">
            <a:solidFill>
              <a:srgbClr val="2A9D8F"/>
            </a:solidFill>
            <a:prstDash val="solid"/>
          </a:ln>
        </p:spPr>
        <p:txBody>
          <a:bodyPr/>
          <a:lstStyle/>
          <a:p>
            <a:endParaRPr lang="zh-CN" altLang="en-US"/>
          </a:p>
        </p:txBody>
      </p:sp>
      <p:sp>
        <p:nvSpPr>
          <p:cNvPr id="6" name="Text 4"/>
          <p:cNvSpPr/>
          <p:nvPr/>
        </p:nvSpPr>
        <p:spPr>
          <a:xfrm>
            <a:off x="932688" y="1490472"/>
            <a:ext cx="3154680" cy="274320"/>
          </a:xfrm>
          <a:prstGeom prst="rect">
            <a:avLst/>
          </a:prstGeom>
          <a:noFill/>
          <a:ln/>
        </p:spPr>
        <p:txBody>
          <a:bodyPr wrap="square" lIns="0" tIns="0" rIns="0" bIns="0" rtlCol="0" anchor="ctr"/>
          <a:lstStyle/>
          <a:p>
            <a:pPr marL="0" indent="0">
              <a:buNone/>
            </a:pPr>
            <a:r>
              <a:rPr lang="en-US" sz="1600" b="1" dirty="0">
                <a:solidFill>
                  <a:srgbClr val="1F2937"/>
                </a:solidFill>
              </a:rPr>
              <a:t>Motivation</a:t>
            </a:r>
            <a:endParaRPr lang="en-US" sz="1600" dirty="0"/>
          </a:p>
        </p:txBody>
      </p:sp>
      <p:sp>
        <p:nvSpPr>
          <p:cNvPr id="7" name="Text 5"/>
          <p:cNvSpPr/>
          <p:nvPr/>
        </p:nvSpPr>
        <p:spPr>
          <a:xfrm>
            <a:off x="932688" y="1837944"/>
            <a:ext cx="3154680" cy="3886200"/>
          </a:xfrm>
          <a:prstGeom prst="rect">
            <a:avLst/>
          </a:prstGeom>
          <a:noFill/>
          <a:ln/>
        </p:spPr>
        <p:txBody>
          <a:bodyPr wrap="square" lIns="127" tIns="127" rIns="127" bIns="127" rtlCol="0" anchor="t"/>
          <a:lstStyle/>
          <a:p>
            <a:r>
              <a:rPr lang="en-US" dirty="0">
                <a:solidFill>
                  <a:srgbClr val="1F2937"/>
                </a:solidFill>
              </a:rPr>
              <a:t>• Accurate segmentation of catheters or wire in the X-ray  image dataset is challenging. The dataset has a weak structure, low contrast, and is easily confused with the background. </a:t>
            </a:r>
          </a:p>
          <a:p>
            <a:r>
              <a:rPr lang="en-US" altLang="zh-CN" dirty="0">
                <a:solidFill>
                  <a:srgbClr val="1F2937"/>
                </a:solidFill>
              </a:rPr>
              <a:t>• T</a:t>
            </a:r>
            <a:r>
              <a:rPr lang="en-US" altLang="zh-CN" dirty="0"/>
              <a:t>o verify whether mainstream segmentation models can effectively perform the task of segmenting the target image.</a:t>
            </a:r>
            <a:endParaRPr lang="en-US" dirty="0">
              <a:solidFill>
                <a:srgbClr val="1F2937"/>
              </a:solidFill>
            </a:endParaRPr>
          </a:p>
          <a:p>
            <a:endParaRPr lang="en-US" dirty="0">
              <a:solidFill>
                <a:srgbClr val="1F2937"/>
              </a:solidFill>
            </a:endParaRPr>
          </a:p>
          <a:p>
            <a:endParaRPr lang="en-US" sz="1400" dirty="0">
              <a:solidFill>
                <a:srgbClr val="1F2937"/>
              </a:solidFill>
            </a:endParaRPr>
          </a:p>
          <a:p>
            <a:endParaRPr lang="en-US" sz="1400" dirty="0"/>
          </a:p>
          <a:p>
            <a:pPr marL="0" indent="0">
              <a:buNone/>
            </a:pPr>
            <a:endParaRPr lang="en-US" sz="1400" dirty="0"/>
          </a:p>
        </p:txBody>
      </p:sp>
      <p:sp>
        <p:nvSpPr>
          <p:cNvPr id="8" name="Shape 6"/>
          <p:cNvSpPr/>
          <p:nvPr/>
        </p:nvSpPr>
        <p:spPr>
          <a:xfrm>
            <a:off x="4370832" y="1325880"/>
            <a:ext cx="3383280" cy="4526280"/>
          </a:xfrm>
          <a:prstGeom prst="roundRect">
            <a:avLst>
              <a:gd name="adj" fmla="val 2162"/>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9" name="Shape 7"/>
          <p:cNvSpPr/>
          <p:nvPr/>
        </p:nvSpPr>
        <p:spPr>
          <a:xfrm>
            <a:off x="4389120" y="1344168"/>
            <a:ext cx="73152" cy="4489704"/>
          </a:xfrm>
          <a:prstGeom prst="rect">
            <a:avLst/>
          </a:prstGeom>
          <a:solidFill>
            <a:srgbClr val="5DA9E9"/>
          </a:solidFill>
          <a:ln w="12700">
            <a:solidFill>
              <a:srgbClr val="5DA9E9"/>
            </a:solidFill>
            <a:prstDash val="solid"/>
          </a:ln>
        </p:spPr>
        <p:txBody>
          <a:bodyPr/>
          <a:lstStyle/>
          <a:p>
            <a:endParaRPr lang="zh-CN" altLang="en-US"/>
          </a:p>
        </p:txBody>
      </p:sp>
      <p:sp>
        <p:nvSpPr>
          <p:cNvPr id="10" name="Text 8"/>
          <p:cNvSpPr/>
          <p:nvPr/>
        </p:nvSpPr>
        <p:spPr>
          <a:xfrm>
            <a:off x="4572000" y="1490472"/>
            <a:ext cx="3063240" cy="274320"/>
          </a:xfrm>
          <a:prstGeom prst="rect">
            <a:avLst/>
          </a:prstGeom>
          <a:noFill/>
          <a:ln/>
        </p:spPr>
        <p:txBody>
          <a:bodyPr wrap="square" lIns="0" tIns="0" rIns="0" bIns="0" rtlCol="0" anchor="ctr"/>
          <a:lstStyle/>
          <a:p>
            <a:pPr marL="0" indent="0">
              <a:buNone/>
            </a:pPr>
            <a:r>
              <a:rPr lang="en-US" sz="1600" b="1" dirty="0">
                <a:solidFill>
                  <a:srgbClr val="1F2937"/>
                </a:solidFill>
              </a:rPr>
              <a:t>Original objectives</a:t>
            </a:r>
            <a:endParaRPr lang="en-US" sz="1600" dirty="0"/>
          </a:p>
        </p:txBody>
      </p:sp>
      <p:sp>
        <p:nvSpPr>
          <p:cNvPr id="11" name="Text 9"/>
          <p:cNvSpPr/>
          <p:nvPr/>
        </p:nvSpPr>
        <p:spPr>
          <a:xfrm>
            <a:off x="4572000" y="1837944"/>
            <a:ext cx="3063240" cy="3886200"/>
          </a:xfrm>
          <a:prstGeom prst="rect">
            <a:avLst/>
          </a:prstGeom>
          <a:noFill/>
          <a:ln/>
        </p:spPr>
        <p:txBody>
          <a:bodyPr wrap="square" lIns="127" tIns="127" rIns="127" bIns="127" rtlCol="0" anchor="t"/>
          <a:lstStyle/>
          <a:p>
            <a:r>
              <a:rPr lang="en-US" sz="1600" dirty="0">
                <a:solidFill>
                  <a:srgbClr val="1F2937"/>
                </a:solidFill>
              </a:rPr>
              <a:t>• Build a repeatable  training and evaluation workflow for semantic segmentation.</a:t>
            </a:r>
          </a:p>
          <a:p>
            <a:pPr marL="0" indent="0">
              <a:buNone/>
            </a:pPr>
            <a:endParaRPr lang="en-US" sz="1600" dirty="0"/>
          </a:p>
          <a:p>
            <a:pPr marL="0" indent="0">
              <a:buNone/>
            </a:pPr>
            <a:r>
              <a:rPr lang="en-US" sz="1600" dirty="0">
                <a:solidFill>
                  <a:srgbClr val="1F2937"/>
                </a:solidFill>
              </a:rPr>
              <a:t>• Compare stronger U-Net family models on the same dataset split and metrics one by one.</a:t>
            </a:r>
          </a:p>
          <a:p>
            <a:pPr marL="0" indent="0">
              <a:buNone/>
            </a:pPr>
            <a:endParaRPr lang="en-US" sz="1600" dirty="0"/>
          </a:p>
          <a:p>
            <a:r>
              <a:rPr lang="en-US" sz="1600" dirty="0">
                <a:solidFill>
                  <a:srgbClr val="1F2937"/>
                </a:solidFill>
              </a:rPr>
              <a:t>• Use visualization software to output model predictions.</a:t>
            </a:r>
            <a:endParaRPr lang="en-US" sz="1600" dirty="0"/>
          </a:p>
        </p:txBody>
      </p:sp>
      <p:sp>
        <p:nvSpPr>
          <p:cNvPr id="12" name="Shape 10"/>
          <p:cNvSpPr/>
          <p:nvPr/>
        </p:nvSpPr>
        <p:spPr>
          <a:xfrm>
            <a:off x="7918704" y="1325880"/>
            <a:ext cx="3547872" cy="4526280"/>
          </a:xfrm>
          <a:prstGeom prst="roundRect">
            <a:avLst>
              <a:gd name="adj" fmla="val 2062"/>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13" name="Shape 11"/>
          <p:cNvSpPr/>
          <p:nvPr/>
        </p:nvSpPr>
        <p:spPr>
          <a:xfrm>
            <a:off x="7936992" y="1344168"/>
            <a:ext cx="73152" cy="4489704"/>
          </a:xfrm>
          <a:prstGeom prst="rect">
            <a:avLst/>
          </a:prstGeom>
          <a:solidFill>
            <a:srgbClr val="E9C46A"/>
          </a:solidFill>
          <a:ln w="12700">
            <a:solidFill>
              <a:srgbClr val="E9C46A"/>
            </a:solidFill>
            <a:prstDash val="solid"/>
          </a:ln>
        </p:spPr>
        <p:txBody>
          <a:bodyPr/>
          <a:lstStyle/>
          <a:p>
            <a:endParaRPr lang="zh-CN" altLang="en-US"/>
          </a:p>
        </p:txBody>
      </p:sp>
      <p:sp>
        <p:nvSpPr>
          <p:cNvPr id="14" name="Text 12"/>
          <p:cNvSpPr/>
          <p:nvPr/>
        </p:nvSpPr>
        <p:spPr>
          <a:xfrm>
            <a:off x="8119872" y="1490472"/>
            <a:ext cx="3227832" cy="274320"/>
          </a:xfrm>
          <a:prstGeom prst="rect">
            <a:avLst/>
          </a:prstGeom>
          <a:noFill/>
          <a:ln/>
        </p:spPr>
        <p:txBody>
          <a:bodyPr wrap="square" lIns="0" tIns="0" rIns="0" bIns="0" rtlCol="0" anchor="ctr"/>
          <a:lstStyle/>
          <a:p>
            <a:pPr marL="0" indent="0">
              <a:buNone/>
            </a:pPr>
            <a:r>
              <a:rPr lang="en-US" sz="1600" b="1" dirty="0">
                <a:solidFill>
                  <a:srgbClr val="1F2937"/>
                </a:solidFill>
              </a:rPr>
              <a:t>Major conclusion</a:t>
            </a:r>
            <a:endParaRPr lang="en-US" sz="1600" dirty="0"/>
          </a:p>
        </p:txBody>
      </p:sp>
      <p:sp>
        <p:nvSpPr>
          <p:cNvPr id="15" name="Text 13"/>
          <p:cNvSpPr/>
          <p:nvPr/>
        </p:nvSpPr>
        <p:spPr>
          <a:xfrm>
            <a:off x="8119872" y="1837944"/>
            <a:ext cx="3227832" cy="3886200"/>
          </a:xfrm>
          <a:prstGeom prst="rect">
            <a:avLst/>
          </a:prstGeom>
          <a:noFill/>
          <a:ln/>
        </p:spPr>
        <p:txBody>
          <a:bodyPr wrap="square" lIns="127" tIns="127" rIns="127" bIns="127" rtlCol="0" anchor="t"/>
          <a:lstStyle/>
          <a:p>
            <a:r>
              <a:rPr lang="en-US" sz="1600" dirty="0">
                <a:solidFill>
                  <a:srgbClr val="1F2937"/>
                </a:solidFill>
              </a:rPr>
              <a:t>• </a:t>
            </a:r>
            <a:r>
              <a:rPr lang="en-US" sz="1600" b="1" dirty="0">
                <a:solidFill>
                  <a:srgbClr val="1F2937"/>
                </a:solidFill>
              </a:rPr>
              <a:t>R2U-net </a:t>
            </a:r>
            <a:r>
              <a:rPr lang="en-US" sz="1600" dirty="0">
                <a:solidFill>
                  <a:srgbClr val="1F2937"/>
                </a:solidFill>
              </a:rPr>
              <a:t>currently offers the best segmentation performance.</a:t>
            </a:r>
          </a:p>
          <a:p>
            <a:endParaRPr lang="en-US" sz="1600" dirty="0"/>
          </a:p>
          <a:p>
            <a:r>
              <a:rPr lang="en-US" sz="1600" dirty="0">
                <a:solidFill>
                  <a:srgbClr val="1F2937"/>
                </a:solidFill>
              </a:rPr>
              <a:t>• The Attention algorithm did not perform well on the dataset, and was even worse than the original U-net.</a:t>
            </a:r>
            <a:endParaRPr lang="en-US" sz="1600" dirty="0"/>
          </a:p>
          <a:p>
            <a:pPr marL="0" indent="0">
              <a:buNone/>
            </a:pPr>
            <a:endParaRPr lang="en-US" sz="1220" dirty="0">
              <a:solidFill>
                <a:srgbClr val="1F2937"/>
              </a:solidFill>
            </a:endParaRPr>
          </a:p>
          <a:p>
            <a:pPr marL="0" indent="0">
              <a:buNone/>
            </a:pPr>
            <a:endParaRPr lang="en-US" sz="1220" dirty="0">
              <a:solidFill>
                <a:srgbClr val="1F2937"/>
              </a:solidFill>
            </a:endParaRPr>
          </a:p>
          <a:p>
            <a:pPr marL="0" indent="0">
              <a:buNone/>
            </a:pPr>
            <a:endParaRPr lang="en-US" sz="1220" dirty="0">
              <a:solidFill>
                <a:srgbClr val="1F2937"/>
              </a:solidFill>
            </a:endParaRPr>
          </a:p>
          <a:p>
            <a:pPr marL="0" indent="0">
              <a:buNone/>
            </a:pPr>
            <a:endParaRPr lang="en-US" sz="1220" dirty="0">
              <a:solidFill>
                <a:srgbClr val="1F2937"/>
              </a:solidFill>
            </a:endParaRPr>
          </a:p>
          <a:p>
            <a:pPr marL="0" indent="0">
              <a:buNone/>
            </a:pPr>
            <a:endParaRPr lang="en-US" sz="1220" dirty="0"/>
          </a:p>
        </p:txBody>
      </p:sp>
      <p:sp>
        <p:nvSpPr>
          <p:cNvPr id="25" name="Slide Number Placeholder 0"/>
          <p:cNvSpPr>
            <a:spLocks noGrp="1"/>
          </p:cNvSpPr>
          <p:nvPr>
            <p:ph type="sldNum" sz="quarter" idx="4294967295"/>
          </p:nvPr>
        </p:nvSpPr>
        <p:spPr>
          <a:xfrm>
            <a:off x="11612880" y="6574536"/>
            <a:ext cx="36576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8046720" cy="411480"/>
          </a:xfrm>
          <a:prstGeom prst="rect">
            <a:avLst/>
          </a:prstGeom>
          <a:noFill/>
          <a:ln/>
        </p:spPr>
        <p:txBody>
          <a:bodyPr wrap="square" lIns="0" tIns="0" rIns="0" bIns="0" rtlCol="0" anchor="ctr"/>
          <a:lstStyle/>
          <a:p>
            <a:pPr marL="0" indent="0">
              <a:buNone/>
            </a:pPr>
            <a:r>
              <a:rPr lang="en-US" sz="2600" b="1" dirty="0">
                <a:solidFill>
                  <a:srgbClr val="123B5D"/>
                </a:solidFill>
                <a:latin typeface="Aptos Display" pitchFamily="34" charset="0"/>
                <a:ea typeface="Aptos Display" pitchFamily="34" charset="-122"/>
                <a:cs typeface="Aptos Display" pitchFamily="34" charset="-120"/>
              </a:rPr>
              <a:t>2. Dataset(</a:t>
            </a:r>
            <a:r>
              <a:rPr lang="en-US" sz="2600" b="1" dirty="0" err="1">
                <a:solidFill>
                  <a:srgbClr val="123B5D"/>
                </a:solidFill>
                <a:latin typeface="Aptos Display" pitchFamily="34" charset="0"/>
                <a:ea typeface="Aptos Display" pitchFamily="34" charset="-122"/>
                <a:cs typeface="Aptos Display" pitchFamily="34" charset="-120"/>
              </a:rPr>
              <a:t>CathAction</a:t>
            </a:r>
            <a:r>
              <a:rPr lang="en-US" sz="2600" b="1" dirty="0">
                <a:solidFill>
                  <a:srgbClr val="123B5D"/>
                </a:solidFill>
                <a:latin typeface="Aptos Display" pitchFamily="34" charset="0"/>
                <a:ea typeface="Aptos Display" pitchFamily="34" charset="-122"/>
                <a:cs typeface="Aptos Display" pitchFamily="34" charset="-120"/>
              </a:rPr>
              <a:t>) and training setup</a:t>
            </a:r>
            <a:endParaRPr lang="en-US" sz="2600" dirty="0"/>
          </a:p>
        </p:txBody>
      </p:sp>
      <p:sp>
        <p:nvSpPr>
          <p:cNvPr id="3" name="Text 1"/>
          <p:cNvSpPr/>
          <p:nvPr/>
        </p:nvSpPr>
        <p:spPr>
          <a:xfrm>
            <a:off x="658368" y="841248"/>
            <a:ext cx="8046720" cy="256032"/>
          </a:xfrm>
          <a:prstGeom prst="rect">
            <a:avLst/>
          </a:prstGeom>
          <a:noFill/>
          <a:ln/>
        </p:spPr>
        <p:txBody>
          <a:bodyPr wrap="square" lIns="0" tIns="0" rIns="0" bIns="0" rtlCol="0" anchor="ctr"/>
          <a:lstStyle/>
          <a:p>
            <a:pPr marL="0" indent="0">
              <a:buNone/>
            </a:pPr>
            <a:r>
              <a:rPr lang="en-US" sz="1150" dirty="0">
                <a:solidFill>
                  <a:srgbClr val="5B6678"/>
                </a:solidFill>
              </a:rPr>
              <a:t>What the codebase actually trains and measures</a:t>
            </a:r>
            <a:endParaRPr lang="en-US" sz="1150" dirty="0"/>
          </a:p>
        </p:txBody>
      </p:sp>
      <p:sp>
        <p:nvSpPr>
          <p:cNvPr id="4" name="Shape 2"/>
          <p:cNvSpPr/>
          <p:nvPr/>
        </p:nvSpPr>
        <p:spPr>
          <a:xfrm>
            <a:off x="777240" y="1371600"/>
            <a:ext cx="3291840" cy="4389120"/>
          </a:xfrm>
          <a:prstGeom prst="roundRect">
            <a:avLst>
              <a:gd name="adj" fmla="val 2222"/>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5" name="Text 3"/>
          <p:cNvSpPr/>
          <p:nvPr/>
        </p:nvSpPr>
        <p:spPr>
          <a:xfrm>
            <a:off x="1005840" y="1664208"/>
            <a:ext cx="1645920" cy="274320"/>
          </a:xfrm>
          <a:prstGeom prst="rect">
            <a:avLst/>
          </a:prstGeom>
          <a:noFill/>
          <a:ln/>
        </p:spPr>
        <p:txBody>
          <a:bodyPr wrap="square" lIns="0" tIns="0" rIns="0" bIns="0" rtlCol="0" anchor="ctr"/>
          <a:lstStyle/>
          <a:p>
            <a:pPr marL="0" indent="0">
              <a:buNone/>
            </a:pPr>
            <a:r>
              <a:rPr lang="en-US" sz="1700" b="1" dirty="0">
                <a:solidFill>
                  <a:srgbClr val="123B5D"/>
                </a:solidFill>
              </a:rPr>
              <a:t>Dataset facts</a:t>
            </a:r>
            <a:endParaRPr lang="en-US" sz="1700" dirty="0"/>
          </a:p>
        </p:txBody>
      </p:sp>
      <p:sp>
        <p:nvSpPr>
          <p:cNvPr id="6" name="Shape 4"/>
          <p:cNvSpPr/>
          <p:nvPr/>
        </p:nvSpPr>
        <p:spPr>
          <a:xfrm>
            <a:off x="960120" y="2084832"/>
            <a:ext cx="2880360" cy="512064"/>
          </a:xfrm>
          <a:prstGeom prst="roundRect">
            <a:avLst>
              <a:gd name="adj" fmla="val 7143"/>
            </a:avLst>
          </a:prstGeom>
          <a:solidFill>
            <a:srgbClr val="F5F8FC"/>
          </a:solidFill>
          <a:ln w="12700">
            <a:solidFill>
              <a:srgbClr val="DCE5EE"/>
            </a:solidFill>
            <a:prstDash val="solid"/>
          </a:ln>
        </p:spPr>
        <p:txBody>
          <a:bodyPr/>
          <a:lstStyle/>
          <a:p>
            <a:endParaRPr lang="zh-CN" altLang="en-US"/>
          </a:p>
        </p:txBody>
      </p:sp>
      <p:sp>
        <p:nvSpPr>
          <p:cNvPr id="7" name="Text 5"/>
          <p:cNvSpPr/>
          <p:nvPr/>
        </p:nvSpPr>
        <p:spPr>
          <a:xfrm>
            <a:off x="1115568" y="2221992"/>
            <a:ext cx="1417320" cy="182880"/>
          </a:xfrm>
          <a:prstGeom prst="rect">
            <a:avLst/>
          </a:prstGeom>
          <a:noFill/>
          <a:ln/>
        </p:spPr>
        <p:txBody>
          <a:bodyPr wrap="square" lIns="0" tIns="0" rIns="0" bIns="0" rtlCol="0" anchor="ctr"/>
          <a:lstStyle/>
          <a:p>
            <a:r>
              <a:rPr lang="en-US" sz="1220" b="1" dirty="0" err="1">
                <a:solidFill>
                  <a:srgbClr val="1F2937"/>
                </a:solidFill>
              </a:rPr>
              <a:t>phantom_train</a:t>
            </a:r>
            <a:endParaRPr lang="en-US" sz="1220" dirty="0"/>
          </a:p>
        </p:txBody>
      </p:sp>
      <p:sp>
        <p:nvSpPr>
          <p:cNvPr id="8" name="Text 6"/>
          <p:cNvSpPr/>
          <p:nvPr/>
        </p:nvSpPr>
        <p:spPr>
          <a:xfrm>
            <a:off x="2606040" y="2194560"/>
            <a:ext cx="914400" cy="201168"/>
          </a:xfrm>
          <a:prstGeom prst="rect">
            <a:avLst/>
          </a:prstGeom>
          <a:noFill/>
          <a:ln/>
        </p:spPr>
        <p:txBody>
          <a:bodyPr wrap="square" lIns="0" tIns="0" rIns="0" bIns="0" rtlCol="0" anchor="ctr"/>
          <a:lstStyle/>
          <a:p>
            <a:pPr algn="r"/>
            <a:r>
              <a:rPr lang="en-US" sz="1500" b="1" dirty="0">
                <a:solidFill>
                  <a:srgbClr val="2A9D8F"/>
                </a:solidFill>
              </a:rPr>
              <a:t>14,737 </a:t>
            </a:r>
            <a:endParaRPr lang="en-US" sz="1500" dirty="0"/>
          </a:p>
        </p:txBody>
      </p:sp>
      <p:sp>
        <p:nvSpPr>
          <p:cNvPr id="9" name="Shape 7"/>
          <p:cNvSpPr/>
          <p:nvPr/>
        </p:nvSpPr>
        <p:spPr>
          <a:xfrm>
            <a:off x="960120" y="2715768"/>
            <a:ext cx="2880360" cy="512064"/>
          </a:xfrm>
          <a:prstGeom prst="roundRect">
            <a:avLst>
              <a:gd name="adj" fmla="val 7143"/>
            </a:avLst>
          </a:prstGeom>
          <a:solidFill>
            <a:srgbClr val="EEF6F4"/>
          </a:solidFill>
          <a:ln w="12700">
            <a:solidFill>
              <a:srgbClr val="DCE5EE"/>
            </a:solidFill>
            <a:prstDash val="solid"/>
          </a:ln>
        </p:spPr>
        <p:txBody>
          <a:bodyPr/>
          <a:lstStyle/>
          <a:p>
            <a:endParaRPr lang="zh-CN" altLang="en-US"/>
          </a:p>
        </p:txBody>
      </p:sp>
      <p:sp>
        <p:nvSpPr>
          <p:cNvPr id="10" name="Text 8"/>
          <p:cNvSpPr/>
          <p:nvPr/>
        </p:nvSpPr>
        <p:spPr>
          <a:xfrm>
            <a:off x="1115568" y="2852928"/>
            <a:ext cx="1417320" cy="182880"/>
          </a:xfrm>
          <a:prstGeom prst="rect">
            <a:avLst/>
          </a:prstGeom>
          <a:noFill/>
          <a:ln/>
        </p:spPr>
        <p:txBody>
          <a:bodyPr wrap="square" lIns="0" tIns="0" rIns="0" bIns="0" rtlCol="0" anchor="ctr"/>
          <a:lstStyle/>
          <a:p>
            <a:r>
              <a:rPr lang="en-US" sz="1220" b="1" dirty="0" err="1">
                <a:solidFill>
                  <a:srgbClr val="1F2937"/>
                </a:solidFill>
              </a:rPr>
              <a:t>phantom_test</a:t>
            </a:r>
            <a:endParaRPr lang="en-US" sz="1220" dirty="0"/>
          </a:p>
        </p:txBody>
      </p:sp>
      <p:sp>
        <p:nvSpPr>
          <p:cNvPr id="11" name="Text 9"/>
          <p:cNvSpPr/>
          <p:nvPr/>
        </p:nvSpPr>
        <p:spPr>
          <a:xfrm>
            <a:off x="2606040" y="2825496"/>
            <a:ext cx="914400" cy="201168"/>
          </a:xfrm>
          <a:prstGeom prst="rect">
            <a:avLst/>
          </a:prstGeom>
          <a:noFill/>
          <a:ln/>
        </p:spPr>
        <p:txBody>
          <a:bodyPr wrap="square" lIns="0" tIns="0" rIns="0" bIns="0" rtlCol="0" anchor="ctr"/>
          <a:lstStyle/>
          <a:p>
            <a:pPr marL="0" indent="0" algn="r">
              <a:buNone/>
            </a:pPr>
            <a:r>
              <a:rPr lang="en-US" sz="1500" b="1" dirty="0">
                <a:solidFill>
                  <a:srgbClr val="2A9D8F"/>
                </a:solidFill>
              </a:rPr>
              <a:t>3,685</a:t>
            </a:r>
            <a:endParaRPr lang="en-US" sz="1500" dirty="0"/>
          </a:p>
        </p:txBody>
      </p:sp>
      <p:sp>
        <p:nvSpPr>
          <p:cNvPr id="12" name="Shape 10"/>
          <p:cNvSpPr/>
          <p:nvPr/>
        </p:nvSpPr>
        <p:spPr>
          <a:xfrm>
            <a:off x="960120" y="3346704"/>
            <a:ext cx="2880360" cy="512064"/>
          </a:xfrm>
          <a:prstGeom prst="roundRect">
            <a:avLst>
              <a:gd name="adj" fmla="val 7143"/>
            </a:avLst>
          </a:prstGeom>
          <a:solidFill>
            <a:srgbClr val="F5F8FC"/>
          </a:solidFill>
          <a:ln w="12700">
            <a:solidFill>
              <a:srgbClr val="DCE5EE"/>
            </a:solidFill>
            <a:prstDash val="solid"/>
          </a:ln>
        </p:spPr>
        <p:txBody>
          <a:bodyPr/>
          <a:lstStyle/>
          <a:p>
            <a:endParaRPr lang="zh-CN" altLang="en-US"/>
          </a:p>
        </p:txBody>
      </p:sp>
      <p:sp>
        <p:nvSpPr>
          <p:cNvPr id="13" name="Text 11"/>
          <p:cNvSpPr/>
          <p:nvPr/>
        </p:nvSpPr>
        <p:spPr>
          <a:xfrm>
            <a:off x="1115568" y="3483864"/>
            <a:ext cx="1417320" cy="182880"/>
          </a:xfrm>
          <a:prstGeom prst="rect">
            <a:avLst/>
          </a:prstGeom>
          <a:noFill/>
          <a:ln/>
        </p:spPr>
        <p:txBody>
          <a:bodyPr wrap="square" lIns="0" tIns="0" rIns="0" bIns="0" rtlCol="0" anchor="ctr"/>
          <a:lstStyle/>
          <a:p>
            <a:r>
              <a:rPr lang="en-US" sz="1220" b="1" dirty="0" err="1">
                <a:solidFill>
                  <a:srgbClr val="1F2937"/>
                </a:solidFill>
              </a:rPr>
              <a:t>animal_train</a:t>
            </a:r>
            <a:endParaRPr lang="en-US" sz="1220" dirty="0"/>
          </a:p>
        </p:txBody>
      </p:sp>
      <p:sp>
        <p:nvSpPr>
          <p:cNvPr id="14" name="Text 12"/>
          <p:cNvSpPr/>
          <p:nvPr/>
        </p:nvSpPr>
        <p:spPr>
          <a:xfrm>
            <a:off x="2606040" y="3456432"/>
            <a:ext cx="914400" cy="201168"/>
          </a:xfrm>
          <a:prstGeom prst="rect">
            <a:avLst/>
          </a:prstGeom>
          <a:noFill/>
          <a:ln/>
        </p:spPr>
        <p:txBody>
          <a:bodyPr wrap="square" lIns="0" tIns="0" rIns="0" bIns="0" rtlCol="0" anchor="ctr"/>
          <a:lstStyle/>
          <a:p>
            <a:pPr marL="0" indent="0" algn="r">
              <a:buNone/>
            </a:pPr>
            <a:r>
              <a:rPr lang="en-US" sz="1500" b="1" dirty="0">
                <a:solidFill>
                  <a:srgbClr val="2A9D8F"/>
                </a:solidFill>
              </a:rPr>
              <a:t>4,021</a:t>
            </a:r>
            <a:endParaRPr lang="en-US" sz="1500" dirty="0"/>
          </a:p>
        </p:txBody>
      </p:sp>
      <p:sp>
        <p:nvSpPr>
          <p:cNvPr id="15" name="Shape 13"/>
          <p:cNvSpPr/>
          <p:nvPr/>
        </p:nvSpPr>
        <p:spPr>
          <a:xfrm>
            <a:off x="960120" y="3977640"/>
            <a:ext cx="2880360" cy="512064"/>
          </a:xfrm>
          <a:prstGeom prst="roundRect">
            <a:avLst>
              <a:gd name="adj" fmla="val 7143"/>
            </a:avLst>
          </a:prstGeom>
          <a:solidFill>
            <a:srgbClr val="EEF6F4"/>
          </a:solidFill>
          <a:ln w="12700">
            <a:solidFill>
              <a:srgbClr val="DCE5EE"/>
            </a:solidFill>
            <a:prstDash val="solid"/>
          </a:ln>
        </p:spPr>
        <p:txBody>
          <a:bodyPr/>
          <a:lstStyle/>
          <a:p>
            <a:endParaRPr lang="zh-CN" altLang="en-US"/>
          </a:p>
        </p:txBody>
      </p:sp>
      <p:sp>
        <p:nvSpPr>
          <p:cNvPr id="16" name="Text 14"/>
          <p:cNvSpPr/>
          <p:nvPr/>
        </p:nvSpPr>
        <p:spPr>
          <a:xfrm>
            <a:off x="1115568" y="4114800"/>
            <a:ext cx="1417320" cy="182880"/>
          </a:xfrm>
          <a:prstGeom prst="rect">
            <a:avLst/>
          </a:prstGeom>
          <a:noFill/>
          <a:ln/>
        </p:spPr>
        <p:txBody>
          <a:bodyPr wrap="square" lIns="0" tIns="0" rIns="0" bIns="0" rtlCol="0" anchor="ctr"/>
          <a:lstStyle/>
          <a:p>
            <a:r>
              <a:rPr lang="en-US" sz="1220" b="1" dirty="0" err="1">
                <a:solidFill>
                  <a:srgbClr val="1F2937"/>
                </a:solidFill>
              </a:rPr>
              <a:t>animal_test</a:t>
            </a:r>
            <a:endParaRPr lang="en-US" sz="1220" dirty="0"/>
          </a:p>
        </p:txBody>
      </p:sp>
      <p:sp>
        <p:nvSpPr>
          <p:cNvPr id="17" name="Text 15"/>
          <p:cNvSpPr/>
          <p:nvPr/>
        </p:nvSpPr>
        <p:spPr>
          <a:xfrm>
            <a:off x="2606040" y="4087368"/>
            <a:ext cx="914400" cy="201168"/>
          </a:xfrm>
          <a:prstGeom prst="rect">
            <a:avLst/>
          </a:prstGeom>
          <a:noFill/>
          <a:ln/>
        </p:spPr>
        <p:txBody>
          <a:bodyPr wrap="square" lIns="0" tIns="0" rIns="0" bIns="0" rtlCol="0" anchor="ctr"/>
          <a:lstStyle/>
          <a:p>
            <a:pPr marL="0" indent="0" algn="r">
              <a:buNone/>
            </a:pPr>
            <a:r>
              <a:rPr lang="en-US" sz="1500" b="1" dirty="0">
                <a:solidFill>
                  <a:srgbClr val="2A9D8F"/>
                </a:solidFill>
              </a:rPr>
              <a:t>2,012</a:t>
            </a:r>
            <a:endParaRPr lang="en-US" sz="1500" dirty="0"/>
          </a:p>
        </p:txBody>
      </p:sp>
      <p:sp>
        <p:nvSpPr>
          <p:cNvPr id="21" name="Text 19"/>
          <p:cNvSpPr/>
          <p:nvPr/>
        </p:nvSpPr>
        <p:spPr>
          <a:xfrm>
            <a:off x="960120" y="4682209"/>
            <a:ext cx="2880360" cy="859055"/>
          </a:xfrm>
          <a:prstGeom prst="rect">
            <a:avLst/>
          </a:prstGeom>
          <a:noFill/>
          <a:ln/>
        </p:spPr>
        <p:txBody>
          <a:bodyPr wrap="square" lIns="0" tIns="0" rIns="0" bIns="0" rtlCol="0" anchor="ctr"/>
          <a:lstStyle/>
          <a:p>
            <a:r>
              <a:rPr lang="en-US" sz="1400" dirty="0">
                <a:solidFill>
                  <a:srgbClr val="5B6678"/>
                </a:solidFill>
              </a:rPr>
              <a:t>The dataset contains X-ray images of artificial tubes and biomimetic X-ray images, with the label files consisting of 2-class and 3-class classification files.</a:t>
            </a:r>
            <a:endParaRPr lang="en-US" sz="1400" dirty="0"/>
          </a:p>
        </p:txBody>
      </p:sp>
      <p:sp>
        <p:nvSpPr>
          <p:cNvPr id="22" name="Text 20"/>
          <p:cNvSpPr/>
          <p:nvPr/>
        </p:nvSpPr>
        <p:spPr>
          <a:xfrm>
            <a:off x="4526280" y="1554480"/>
            <a:ext cx="2286000" cy="274320"/>
          </a:xfrm>
          <a:prstGeom prst="rect">
            <a:avLst/>
          </a:prstGeom>
          <a:noFill/>
          <a:ln/>
        </p:spPr>
        <p:txBody>
          <a:bodyPr wrap="square" lIns="0" tIns="0" rIns="0" bIns="0" rtlCol="0" anchor="ctr"/>
          <a:lstStyle/>
          <a:p>
            <a:pPr marL="0" indent="0">
              <a:buNone/>
            </a:pPr>
            <a:r>
              <a:rPr lang="en-US" sz="1700" b="1" dirty="0">
                <a:solidFill>
                  <a:srgbClr val="123B5D"/>
                </a:solidFill>
              </a:rPr>
              <a:t>Preprocessing pipeline</a:t>
            </a:r>
            <a:endParaRPr lang="en-US" sz="1700" dirty="0"/>
          </a:p>
        </p:txBody>
      </p:sp>
      <p:sp>
        <p:nvSpPr>
          <p:cNvPr id="23" name="Shape 21"/>
          <p:cNvSpPr/>
          <p:nvPr/>
        </p:nvSpPr>
        <p:spPr>
          <a:xfrm>
            <a:off x="4526280" y="2377440"/>
            <a:ext cx="1353312" cy="914400"/>
          </a:xfrm>
          <a:prstGeom prst="roundRect">
            <a:avLst>
              <a:gd name="adj" fmla="val 6000"/>
            </a:avLst>
          </a:prstGeom>
          <a:solidFill>
            <a:srgbClr val="EAF1F7"/>
          </a:solidFill>
          <a:ln w="12700">
            <a:solidFill>
              <a:srgbClr val="D7E1EA"/>
            </a:solidFill>
            <a:prstDash val="solid"/>
          </a:ln>
        </p:spPr>
        <p:txBody>
          <a:bodyPr/>
          <a:lstStyle/>
          <a:p>
            <a:endParaRPr lang="zh-CN" altLang="en-US"/>
          </a:p>
        </p:txBody>
      </p:sp>
      <p:sp>
        <p:nvSpPr>
          <p:cNvPr id="24" name="Text 22"/>
          <p:cNvSpPr/>
          <p:nvPr/>
        </p:nvSpPr>
        <p:spPr>
          <a:xfrm>
            <a:off x="4599432" y="2651760"/>
            <a:ext cx="1207008" cy="384048"/>
          </a:xfrm>
          <a:prstGeom prst="rect">
            <a:avLst/>
          </a:prstGeom>
          <a:noFill/>
          <a:ln/>
        </p:spPr>
        <p:txBody>
          <a:bodyPr wrap="square" lIns="0" tIns="0" rIns="0" bIns="0" rtlCol="0" anchor="ctr"/>
          <a:lstStyle/>
          <a:p>
            <a:pPr marL="0" indent="0" algn="ctr">
              <a:buNone/>
            </a:pPr>
            <a:r>
              <a:rPr lang="en-US" sz="1300" b="1" dirty="0">
                <a:solidFill>
                  <a:srgbClr val="1F2937"/>
                </a:solidFill>
              </a:rPr>
              <a:t>Input images</a:t>
            </a:r>
            <a:endParaRPr lang="en-US" sz="1300" dirty="0"/>
          </a:p>
          <a:p>
            <a:pPr algn="ctr"/>
            <a:r>
              <a:rPr lang="en-US" sz="1300" b="1" dirty="0">
                <a:solidFill>
                  <a:srgbClr val="1F2937"/>
                </a:solidFill>
              </a:rPr>
              <a:t>+ masks</a:t>
            </a:r>
          </a:p>
          <a:p>
            <a:pPr algn="ctr"/>
            <a:r>
              <a:rPr lang="en-US" sz="1300" b="1" dirty="0">
                <a:solidFill>
                  <a:srgbClr val="1F2937"/>
                </a:solidFill>
              </a:rPr>
              <a:t>(</a:t>
            </a:r>
            <a:r>
              <a:rPr lang="en-US" altLang="zh-CN" sz="1400" b="1" dirty="0">
                <a:solidFill>
                  <a:srgbClr val="1F2937"/>
                </a:solidFill>
              </a:rPr>
              <a:t>datacheck.py </a:t>
            </a:r>
            <a:r>
              <a:rPr lang="en-US" altLang="zh-CN" sz="1300" b="1" dirty="0">
                <a:solidFill>
                  <a:srgbClr val="1F2937"/>
                </a:solidFill>
              </a:rPr>
              <a:t>)</a:t>
            </a:r>
            <a:endParaRPr lang="en-US" sz="1300" dirty="0"/>
          </a:p>
        </p:txBody>
      </p:sp>
      <p:sp>
        <p:nvSpPr>
          <p:cNvPr id="25" name="Shape 23"/>
          <p:cNvSpPr/>
          <p:nvPr/>
        </p:nvSpPr>
        <p:spPr>
          <a:xfrm>
            <a:off x="5952744" y="2697480"/>
            <a:ext cx="256032" cy="274320"/>
          </a:xfrm>
          <a:prstGeom prst="chevron">
            <a:avLst/>
          </a:prstGeom>
          <a:solidFill>
            <a:srgbClr val="C8D8E8"/>
          </a:solidFill>
          <a:ln w="12700">
            <a:solidFill>
              <a:srgbClr val="C8D8E8"/>
            </a:solidFill>
            <a:prstDash val="solid"/>
          </a:ln>
        </p:spPr>
        <p:txBody>
          <a:bodyPr/>
          <a:lstStyle/>
          <a:p>
            <a:endParaRPr lang="zh-CN" altLang="en-US"/>
          </a:p>
        </p:txBody>
      </p:sp>
      <p:sp>
        <p:nvSpPr>
          <p:cNvPr id="26" name="Shape 24"/>
          <p:cNvSpPr/>
          <p:nvPr/>
        </p:nvSpPr>
        <p:spPr>
          <a:xfrm>
            <a:off x="6355080" y="2377440"/>
            <a:ext cx="1353312" cy="914400"/>
          </a:xfrm>
          <a:prstGeom prst="roundRect">
            <a:avLst>
              <a:gd name="adj" fmla="val 6000"/>
            </a:avLst>
          </a:prstGeom>
          <a:solidFill>
            <a:srgbClr val="F0F7F6"/>
          </a:solidFill>
          <a:ln w="12700">
            <a:solidFill>
              <a:srgbClr val="D7E1EA"/>
            </a:solidFill>
            <a:prstDash val="solid"/>
          </a:ln>
        </p:spPr>
        <p:txBody>
          <a:bodyPr/>
          <a:lstStyle/>
          <a:p>
            <a:endParaRPr lang="zh-CN" altLang="en-US"/>
          </a:p>
        </p:txBody>
      </p:sp>
      <p:sp>
        <p:nvSpPr>
          <p:cNvPr id="27" name="Text 25"/>
          <p:cNvSpPr/>
          <p:nvPr/>
        </p:nvSpPr>
        <p:spPr>
          <a:xfrm>
            <a:off x="6428232" y="2651760"/>
            <a:ext cx="1207008" cy="384048"/>
          </a:xfrm>
          <a:prstGeom prst="rect">
            <a:avLst/>
          </a:prstGeom>
          <a:noFill/>
          <a:ln/>
        </p:spPr>
        <p:txBody>
          <a:bodyPr wrap="square" lIns="0" tIns="0" rIns="0" bIns="0" rtlCol="0" anchor="ctr"/>
          <a:lstStyle/>
          <a:p>
            <a:pPr marL="0" indent="0" algn="ctr">
              <a:buNone/>
            </a:pPr>
            <a:r>
              <a:rPr lang="en-US" sz="1300" b="1" dirty="0">
                <a:solidFill>
                  <a:srgbClr val="1F2937"/>
                </a:solidFill>
              </a:rPr>
              <a:t>Resize</a:t>
            </a:r>
            <a:endParaRPr lang="en-US" sz="1300" dirty="0"/>
          </a:p>
          <a:p>
            <a:pPr marL="0" indent="0" algn="ctr">
              <a:buNone/>
            </a:pPr>
            <a:r>
              <a:rPr lang="en-US" sz="1300" b="1" dirty="0">
                <a:solidFill>
                  <a:srgbClr val="1F2937"/>
                </a:solidFill>
              </a:rPr>
              <a:t>to 768*768 or 512*512</a:t>
            </a:r>
            <a:endParaRPr lang="en-US" sz="1300" dirty="0"/>
          </a:p>
        </p:txBody>
      </p:sp>
      <p:sp>
        <p:nvSpPr>
          <p:cNvPr id="28" name="Shape 26"/>
          <p:cNvSpPr/>
          <p:nvPr/>
        </p:nvSpPr>
        <p:spPr>
          <a:xfrm>
            <a:off x="7781544" y="2697480"/>
            <a:ext cx="256032" cy="274320"/>
          </a:xfrm>
          <a:prstGeom prst="chevron">
            <a:avLst/>
          </a:prstGeom>
          <a:solidFill>
            <a:srgbClr val="C8D8E8"/>
          </a:solidFill>
          <a:ln w="12700">
            <a:solidFill>
              <a:srgbClr val="C8D8E8"/>
            </a:solidFill>
            <a:prstDash val="solid"/>
          </a:ln>
        </p:spPr>
        <p:txBody>
          <a:bodyPr/>
          <a:lstStyle/>
          <a:p>
            <a:endParaRPr lang="zh-CN" altLang="en-US"/>
          </a:p>
        </p:txBody>
      </p:sp>
      <p:sp>
        <p:nvSpPr>
          <p:cNvPr id="29" name="Shape 27"/>
          <p:cNvSpPr/>
          <p:nvPr/>
        </p:nvSpPr>
        <p:spPr>
          <a:xfrm>
            <a:off x="8183880" y="2377440"/>
            <a:ext cx="1353312" cy="914400"/>
          </a:xfrm>
          <a:prstGeom prst="roundRect">
            <a:avLst>
              <a:gd name="adj" fmla="val 6000"/>
            </a:avLst>
          </a:prstGeom>
          <a:solidFill>
            <a:srgbClr val="FDF7EF"/>
          </a:solidFill>
          <a:ln w="12700">
            <a:solidFill>
              <a:srgbClr val="D7E1EA"/>
            </a:solidFill>
            <a:prstDash val="solid"/>
          </a:ln>
        </p:spPr>
        <p:txBody>
          <a:bodyPr/>
          <a:lstStyle/>
          <a:p>
            <a:endParaRPr lang="zh-CN" altLang="en-US"/>
          </a:p>
        </p:txBody>
      </p:sp>
      <p:sp>
        <p:nvSpPr>
          <p:cNvPr id="30" name="Text 28"/>
          <p:cNvSpPr/>
          <p:nvPr/>
        </p:nvSpPr>
        <p:spPr>
          <a:xfrm>
            <a:off x="8257032" y="2651760"/>
            <a:ext cx="1207008" cy="384048"/>
          </a:xfrm>
          <a:prstGeom prst="rect">
            <a:avLst/>
          </a:prstGeom>
          <a:noFill/>
          <a:ln/>
        </p:spPr>
        <p:txBody>
          <a:bodyPr wrap="square" lIns="0" tIns="0" rIns="0" bIns="0" rtlCol="0" anchor="ctr"/>
          <a:lstStyle/>
          <a:p>
            <a:pPr marL="0" indent="0" algn="ctr">
              <a:buNone/>
            </a:pPr>
            <a:r>
              <a:rPr lang="en-US" sz="1300" b="1" dirty="0">
                <a:solidFill>
                  <a:srgbClr val="1F2937"/>
                </a:solidFill>
              </a:rPr>
              <a:t>Augmentation</a:t>
            </a:r>
            <a:endParaRPr lang="en-US" sz="1300" dirty="0"/>
          </a:p>
          <a:p>
            <a:pPr marL="0" indent="0" algn="ctr">
              <a:buNone/>
            </a:pPr>
            <a:r>
              <a:rPr lang="en-US" sz="1300" b="1" dirty="0">
                <a:solidFill>
                  <a:srgbClr val="1F2937"/>
                </a:solidFill>
              </a:rPr>
              <a:t>flip / affine / noise</a:t>
            </a:r>
            <a:endParaRPr lang="en-US" sz="1300" dirty="0"/>
          </a:p>
        </p:txBody>
      </p:sp>
      <p:sp>
        <p:nvSpPr>
          <p:cNvPr id="31" name="Shape 29"/>
          <p:cNvSpPr/>
          <p:nvPr/>
        </p:nvSpPr>
        <p:spPr>
          <a:xfrm>
            <a:off x="9610344" y="2697480"/>
            <a:ext cx="256032" cy="274320"/>
          </a:xfrm>
          <a:prstGeom prst="chevron">
            <a:avLst/>
          </a:prstGeom>
          <a:solidFill>
            <a:srgbClr val="C8D8E8"/>
          </a:solidFill>
          <a:ln w="12700">
            <a:solidFill>
              <a:srgbClr val="C8D8E8"/>
            </a:solidFill>
            <a:prstDash val="solid"/>
          </a:ln>
        </p:spPr>
        <p:txBody>
          <a:bodyPr/>
          <a:lstStyle/>
          <a:p>
            <a:endParaRPr lang="zh-CN" altLang="en-US"/>
          </a:p>
        </p:txBody>
      </p:sp>
      <p:sp>
        <p:nvSpPr>
          <p:cNvPr id="32" name="Shape 30"/>
          <p:cNvSpPr/>
          <p:nvPr/>
        </p:nvSpPr>
        <p:spPr>
          <a:xfrm>
            <a:off x="10012680" y="2377440"/>
            <a:ext cx="1353312" cy="914400"/>
          </a:xfrm>
          <a:prstGeom prst="roundRect">
            <a:avLst>
              <a:gd name="adj" fmla="val 6000"/>
            </a:avLst>
          </a:prstGeom>
          <a:solidFill>
            <a:srgbClr val="F7F0FA"/>
          </a:solidFill>
          <a:ln w="12700">
            <a:solidFill>
              <a:srgbClr val="D7E1EA"/>
            </a:solidFill>
            <a:prstDash val="solid"/>
          </a:ln>
        </p:spPr>
        <p:txBody>
          <a:bodyPr/>
          <a:lstStyle/>
          <a:p>
            <a:endParaRPr lang="zh-CN" altLang="en-US"/>
          </a:p>
        </p:txBody>
      </p:sp>
      <p:sp>
        <p:nvSpPr>
          <p:cNvPr id="33" name="Text 31"/>
          <p:cNvSpPr/>
          <p:nvPr/>
        </p:nvSpPr>
        <p:spPr>
          <a:xfrm>
            <a:off x="10085832" y="2651760"/>
            <a:ext cx="1207008" cy="384048"/>
          </a:xfrm>
          <a:prstGeom prst="rect">
            <a:avLst/>
          </a:prstGeom>
          <a:noFill/>
          <a:ln/>
        </p:spPr>
        <p:txBody>
          <a:bodyPr wrap="square" lIns="0" tIns="0" rIns="0" bIns="0" rtlCol="0" anchor="ctr"/>
          <a:lstStyle/>
          <a:p>
            <a:pPr marL="0" indent="0" algn="ctr">
              <a:buNone/>
            </a:pPr>
            <a:r>
              <a:rPr lang="en-US" sz="1300" b="1" dirty="0">
                <a:solidFill>
                  <a:srgbClr val="1F2937"/>
                </a:solidFill>
              </a:rPr>
              <a:t>Tensor +</a:t>
            </a:r>
            <a:endParaRPr lang="en-US" sz="1300" dirty="0"/>
          </a:p>
          <a:p>
            <a:pPr marL="0" indent="0" algn="ctr">
              <a:buNone/>
            </a:pPr>
            <a:r>
              <a:rPr lang="en-US" sz="1300" b="1" dirty="0">
                <a:solidFill>
                  <a:srgbClr val="1F2937"/>
                </a:solidFill>
              </a:rPr>
              <a:t>normalisation</a:t>
            </a:r>
            <a:endParaRPr lang="en-US" sz="1300" dirty="0"/>
          </a:p>
        </p:txBody>
      </p:sp>
      <p:sp>
        <p:nvSpPr>
          <p:cNvPr id="34" name="Shape 32"/>
          <p:cNvSpPr/>
          <p:nvPr/>
        </p:nvSpPr>
        <p:spPr>
          <a:xfrm>
            <a:off x="4480560" y="3840480"/>
            <a:ext cx="6537960" cy="1828800"/>
          </a:xfrm>
          <a:prstGeom prst="roundRect">
            <a:avLst>
              <a:gd name="adj" fmla="val 4000"/>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35" name="Shape 33"/>
          <p:cNvSpPr/>
          <p:nvPr/>
        </p:nvSpPr>
        <p:spPr>
          <a:xfrm>
            <a:off x="4498848" y="3858768"/>
            <a:ext cx="73152" cy="1792224"/>
          </a:xfrm>
          <a:prstGeom prst="rect">
            <a:avLst/>
          </a:prstGeom>
          <a:solidFill>
            <a:srgbClr val="E76F51"/>
          </a:solidFill>
          <a:ln w="12700">
            <a:solidFill>
              <a:srgbClr val="E76F51"/>
            </a:solidFill>
            <a:prstDash val="solid"/>
          </a:ln>
        </p:spPr>
        <p:txBody>
          <a:bodyPr/>
          <a:lstStyle/>
          <a:p>
            <a:endParaRPr lang="zh-CN" altLang="en-US"/>
          </a:p>
        </p:txBody>
      </p:sp>
      <p:sp>
        <p:nvSpPr>
          <p:cNvPr id="36" name="Text 34"/>
          <p:cNvSpPr/>
          <p:nvPr/>
        </p:nvSpPr>
        <p:spPr>
          <a:xfrm>
            <a:off x="4681728" y="4005072"/>
            <a:ext cx="6217920" cy="274320"/>
          </a:xfrm>
          <a:prstGeom prst="rect">
            <a:avLst/>
          </a:prstGeom>
          <a:noFill/>
          <a:ln/>
        </p:spPr>
        <p:txBody>
          <a:bodyPr wrap="square" lIns="0" tIns="0" rIns="0" bIns="0" rtlCol="0" anchor="ctr"/>
          <a:lstStyle/>
          <a:p>
            <a:r>
              <a:rPr lang="en-US" sz="1600" b="1" dirty="0">
                <a:solidFill>
                  <a:srgbClr val="1F2937"/>
                </a:solidFill>
              </a:rPr>
              <a:t>The datacheck.py program performs data verification:</a:t>
            </a:r>
            <a:endParaRPr lang="en-US" sz="1600" dirty="0"/>
          </a:p>
        </p:txBody>
      </p:sp>
      <p:sp>
        <p:nvSpPr>
          <p:cNvPr id="37" name="Text 35"/>
          <p:cNvSpPr/>
          <p:nvPr/>
        </p:nvSpPr>
        <p:spPr>
          <a:xfrm>
            <a:off x="4681728" y="4352544"/>
            <a:ext cx="6217920" cy="1188720"/>
          </a:xfrm>
          <a:prstGeom prst="rect">
            <a:avLst/>
          </a:prstGeom>
          <a:noFill/>
          <a:ln/>
        </p:spPr>
        <p:txBody>
          <a:bodyPr wrap="square" lIns="127" tIns="127" rIns="127" bIns="127" rtlCol="0" anchor="t"/>
          <a:lstStyle/>
          <a:p>
            <a:r>
              <a:rPr lang="en-US" sz="1220" dirty="0">
                <a:solidFill>
                  <a:srgbClr val="1F2937"/>
                </a:solidFill>
              </a:rPr>
              <a:t>• Check if the number of images and masks in the training set is consistent. The code first reads the image set and the label set, and then checks the number of files in both folders is the same.</a:t>
            </a:r>
          </a:p>
          <a:p>
            <a:r>
              <a:rPr lang="en-US" sz="1220" dirty="0">
                <a:solidFill>
                  <a:srgbClr val="1F2937"/>
                </a:solidFill>
              </a:rPr>
              <a:t> • Randomly sample and check if the mask data format is normal. Check if the tag files are three-class or two-class files, and mark any problematic files. </a:t>
            </a:r>
            <a:endParaRPr lang="en-US" sz="1220" dirty="0"/>
          </a:p>
        </p:txBody>
      </p:sp>
      <p:sp>
        <p:nvSpPr>
          <p:cNvPr id="38" name="Slide Number Placeholder 0"/>
          <p:cNvSpPr>
            <a:spLocks noGrp="1"/>
          </p:cNvSpPr>
          <p:nvPr>
            <p:ph type="sldNum" sz="quarter" idx="4294967295"/>
          </p:nvPr>
        </p:nvSpPr>
        <p:spPr>
          <a:xfrm>
            <a:off x="11612880" y="6574536"/>
            <a:ext cx="36576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80920FA-FBD3-AD7D-696A-37CD56BB02FE}"/>
              </a:ext>
            </a:extLst>
          </p:cNvPr>
          <p:cNvSpPr txBox="1"/>
          <p:nvPr/>
        </p:nvSpPr>
        <p:spPr>
          <a:xfrm>
            <a:off x="413886" y="490888"/>
            <a:ext cx="5133393" cy="369332"/>
          </a:xfrm>
          <a:prstGeom prst="rect">
            <a:avLst/>
          </a:prstGeom>
          <a:noFill/>
        </p:spPr>
        <p:txBody>
          <a:bodyPr wrap="none" rtlCol="0">
            <a:spAutoFit/>
          </a:bodyPr>
          <a:lstStyle/>
          <a:p>
            <a:r>
              <a:rPr lang="en-US" altLang="zh-CN" dirty="0"/>
              <a:t>Silicone Phantom Model of Human Blood Vessels:</a:t>
            </a:r>
            <a:endParaRPr lang="zh-CN" altLang="en-US" dirty="0"/>
          </a:p>
        </p:txBody>
      </p:sp>
      <p:pic>
        <p:nvPicPr>
          <p:cNvPr id="6" name="图片 5">
            <a:extLst>
              <a:ext uri="{FF2B5EF4-FFF2-40B4-BE49-F238E27FC236}">
                <a16:creationId xmlns:a16="http://schemas.microsoft.com/office/drawing/2014/main" id="{982A4562-D1CE-D6BA-2DA7-B2876DB9CD13}"/>
              </a:ext>
            </a:extLst>
          </p:cNvPr>
          <p:cNvPicPr>
            <a:picLocks noChangeAspect="1"/>
          </p:cNvPicPr>
          <p:nvPr/>
        </p:nvPicPr>
        <p:blipFill>
          <a:blip r:embed="rId2"/>
          <a:stretch>
            <a:fillRect/>
          </a:stretch>
        </p:blipFill>
        <p:spPr>
          <a:xfrm>
            <a:off x="606391" y="1875634"/>
            <a:ext cx="10979217" cy="3106732"/>
          </a:xfrm>
          <a:prstGeom prst="rect">
            <a:avLst/>
          </a:prstGeom>
        </p:spPr>
      </p:pic>
    </p:spTree>
    <p:extLst>
      <p:ext uri="{BB962C8B-B14F-4D97-AF65-F5344CB8AC3E}">
        <p14:creationId xmlns:p14="http://schemas.microsoft.com/office/powerpoint/2010/main" val="152970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4BA8BBD-597E-8E1D-9B3E-4FA1090DDD99}"/>
              </a:ext>
            </a:extLst>
          </p:cNvPr>
          <p:cNvSpPr txBox="1"/>
          <p:nvPr/>
        </p:nvSpPr>
        <p:spPr>
          <a:xfrm>
            <a:off x="356135" y="450601"/>
            <a:ext cx="2796663" cy="369332"/>
          </a:xfrm>
          <a:prstGeom prst="rect">
            <a:avLst/>
          </a:prstGeom>
          <a:noFill/>
        </p:spPr>
        <p:txBody>
          <a:bodyPr wrap="none" rtlCol="0">
            <a:spAutoFit/>
          </a:bodyPr>
          <a:lstStyle/>
          <a:p>
            <a:r>
              <a:rPr lang="en-US" altLang="zh-CN" dirty="0"/>
              <a:t>Animal experimental data:</a:t>
            </a:r>
            <a:endParaRPr lang="zh-CN" altLang="en-US" dirty="0"/>
          </a:p>
        </p:txBody>
      </p:sp>
      <p:pic>
        <p:nvPicPr>
          <p:cNvPr id="4" name="图片 3">
            <a:extLst>
              <a:ext uri="{FF2B5EF4-FFF2-40B4-BE49-F238E27FC236}">
                <a16:creationId xmlns:a16="http://schemas.microsoft.com/office/drawing/2014/main" id="{3EC42FAE-6DA8-2806-8684-9A99826C01A6}"/>
              </a:ext>
            </a:extLst>
          </p:cNvPr>
          <p:cNvPicPr>
            <a:picLocks noChangeAspect="1"/>
          </p:cNvPicPr>
          <p:nvPr/>
        </p:nvPicPr>
        <p:blipFill>
          <a:blip r:embed="rId2"/>
          <a:stretch>
            <a:fillRect/>
          </a:stretch>
        </p:blipFill>
        <p:spPr>
          <a:xfrm>
            <a:off x="662879" y="1469398"/>
            <a:ext cx="10866241" cy="3919204"/>
          </a:xfrm>
          <a:prstGeom prst="rect">
            <a:avLst/>
          </a:prstGeom>
        </p:spPr>
      </p:pic>
    </p:spTree>
    <p:extLst>
      <p:ext uri="{BB962C8B-B14F-4D97-AF65-F5344CB8AC3E}">
        <p14:creationId xmlns:p14="http://schemas.microsoft.com/office/powerpoint/2010/main" val="1275304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8046720" cy="411480"/>
          </a:xfrm>
          <a:prstGeom prst="rect">
            <a:avLst/>
          </a:prstGeom>
          <a:noFill/>
          <a:ln/>
        </p:spPr>
        <p:txBody>
          <a:bodyPr wrap="square" lIns="0" tIns="0" rIns="0" bIns="0" rtlCol="0" anchor="ctr"/>
          <a:lstStyle/>
          <a:p>
            <a:pPr marL="0" indent="0">
              <a:buNone/>
            </a:pPr>
            <a:r>
              <a:rPr lang="en-US" sz="2600" b="1" dirty="0">
                <a:solidFill>
                  <a:srgbClr val="123B5D"/>
                </a:solidFill>
                <a:latin typeface="Aptos Display" pitchFamily="34" charset="0"/>
                <a:ea typeface="Aptos Display" pitchFamily="34" charset="-122"/>
                <a:cs typeface="Aptos Display" pitchFamily="34" charset="-120"/>
              </a:rPr>
              <a:t>3. Model progression</a:t>
            </a:r>
            <a:endParaRPr lang="en-US" sz="2600" dirty="0"/>
          </a:p>
        </p:txBody>
      </p:sp>
      <p:sp>
        <p:nvSpPr>
          <p:cNvPr id="3" name="Text 1"/>
          <p:cNvSpPr/>
          <p:nvPr/>
        </p:nvSpPr>
        <p:spPr>
          <a:xfrm>
            <a:off x="658368" y="1024609"/>
            <a:ext cx="8046720" cy="256032"/>
          </a:xfrm>
          <a:prstGeom prst="rect">
            <a:avLst/>
          </a:prstGeom>
          <a:noFill/>
          <a:ln/>
        </p:spPr>
        <p:txBody>
          <a:bodyPr wrap="square" lIns="0" tIns="0" rIns="0" bIns="0" rtlCol="0" anchor="ctr"/>
          <a:lstStyle/>
          <a:p>
            <a:r>
              <a:rPr lang="en-US" sz="1150" dirty="0">
                <a:solidFill>
                  <a:srgbClr val="5B6678"/>
                </a:solidFill>
              </a:rPr>
              <a:t>Four different U-net model training schemes</a:t>
            </a:r>
            <a:endParaRPr lang="en-US" sz="1150" dirty="0"/>
          </a:p>
        </p:txBody>
      </p:sp>
      <p:sp>
        <p:nvSpPr>
          <p:cNvPr id="4" name="Shape 2"/>
          <p:cNvSpPr/>
          <p:nvPr/>
        </p:nvSpPr>
        <p:spPr>
          <a:xfrm>
            <a:off x="822960" y="1874520"/>
            <a:ext cx="2359152" cy="2011680"/>
          </a:xfrm>
          <a:prstGeom prst="roundRect">
            <a:avLst>
              <a:gd name="adj" fmla="val 3636"/>
            </a:avLst>
          </a:prstGeom>
          <a:solidFill>
            <a:srgbClr val="FFFFFF"/>
          </a:solidFill>
          <a:ln w="12700">
            <a:solidFill>
              <a:srgbClr val="D7E1EA"/>
            </a:solidFill>
            <a:prstDash val="solid"/>
          </a:ln>
          <a:effectLst>
            <a:outerShdw blurRad="12700" dist="12700" dir="2700000" algn="bl" rotWithShape="0">
              <a:srgbClr val="000000">
                <a:alpha val="10000"/>
              </a:srgbClr>
            </a:outerShdw>
          </a:effectLst>
        </p:spPr>
        <p:txBody>
          <a:bodyPr/>
          <a:lstStyle/>
          <a:p>
            <a:endParaRPr lang="zh-CN" altLang="en-US"/>
          </a:p>
        </p:txBody>
      </p:sp>
      <p:sp>
        <p:nvSpPr>
          <p:cNvPr id="5" name="Shape 3"/>
          <p:cNvSpPr/>
          <p:nvPr/>
        </p:nvSpPr>
        <p:spPr>
          <a:xfrm>
            <a:off x="1005840" y="2084832"/>
            <a:ext cx="1993392" cy="384048"/>
          </a:xfrm>
          <a:prstGeom prst="roundRect">
            <a:avLst>
              <a:gd name="adj" fmla="val 14286"/>
            </a:avLst>
          </a:prstGeom>
          <a:solidFill>
            <a:srgbClr val="5DA9E9"/>
          </a:solidFill>
          <a:ln w="12700">
            <a:solidFill>
              <a:srgbClr val="5DA9E9"/>
            </a:solidFill>
            <a:prstDash val="solid"/>
          </a:ln>
        </p:spPr>
        <p:txBody>
          <a:bodyPr/>
          <a:lstStyle/>
          <a:p>
            <a:endParaRPr lang="zh-CN" altLang="en-US"/>
          </a:p>
        </p:txBody>
      </p:sp>
      <p:sp>
        <p:nvSpPr>
          <p:cNvPr id="6" name="Text 4"/>
          <p:cNvSpPr/>
          <p:nvPr/>
        </p:nvSpPr>
        <p:spPr>
          <a:xfrm>
            <a:off x="1005840" y="2185416"/>
            <a:ext cx="1993392" cy="137160"/>
          </a:xfrm>
          <a:prstGeom prst="rect">
            <a:avLst/>
          </a:prstGeom>
          <a:noFill/>
          <a:ln/>
        </p:spPr>
        <p:txBody>
          <a:bodyPr wrap="square" lIns="0" tIns="0" rIns="0" bIns="0" rtlCol="0" anchor="ctr"/>
          <a:lstStyle/>
          <a:p>
            <a:pPr marL="0" indent="0" algn="ctr">
              <a:buNone/>
            </a:pPr>
            <a:r>
              <a:rPr lang="en-US" sz="1600" b="1" dirty="0">
                <a:solidFill>
                  <a:srgbClr val="FFFFFF"/>
                </a:solidFill>
              </a:rPr>
              <a:t>U-Net</a:t>
            </a:r>
            <a:endParaRPr lang="en-US" sz="1600" dirty="0"/>
          </a:p>
        </p:txBody>
      </p:sp>
      <p:sp>
        <p:nvSpPr>
          <p:cNvPr id="7" name="Text 5"/>
          <p:cNvSpPr/>
          <p:nvPr/>
        </p:nvSpPr>
        <p:spPr>
          <a:xfrm>
            <a:off x="1024128" y="2743200"/>
            <a:ext cx="1938528" cy="658368"/>
          </a:xfrm>
          <a:prstGeom prst="rect">
            <a:avLst/>
          </a:prstGeom>
          <a:noFill/>
          <a:ln/>
        </p:spPr>
        <p:txBody>
          <a:bodyPr wrap="square" lIns="0" tIns="0" rIns="0" bIns="0" rtlCol="0" anchor="ctr"/>
          <a:lstStyle/>
          <a:p>
            <a:pPr marL="0" indent="0" algn="ctr">
              <a:buNone/>
            </a:pPr>
            <a:r>
              <a:rPr lang="en-US" sz="1220" dirty="0">
                <a:solidFill>
                  <a:srgbClr val="1F2937"/>
                </a:solidFill>
              </a:rPr>
              <a:t>Baseline encoder-decoder with skip connections</a:t>
            </a:r>
            <a:endParaRPr lang="en-US" sz="1220" dirty="0"/>
          </a:p>
        </p:txBody>
      </p:sp>
      <p:sp>
        <p:nvSpPr>
          <p:cNvPr id="9" name="Shape 7"/>
          <p:cNvSpPr/>
          <p:nvPr/>
        </p:nvSpPr>
        <p:spPr>
          <a:xfrm>
            <a:off x="3675888" y="1874520"/>
            <a:ext cx="2359152" cy="2011680"/>
          </a:xfrm>
          <a:prstGeom prst="roundRect">
            <a:avLst>
              <a:gd name="adj" fmla="val 3636"/>
            </a:avLst>
          </a:prstGeom>
          <a:solidFill>
            <a:srgbClr val="FFFFFF"/>
          </a:solidFill>
          <a:ln w="12700">
            <a:solidFill>
              <a:srgbClr val="D7E1EA"/>
            </a:solidFill>
            <a:prstDash val="solid"/>
          </a:ln>
          <a:effectLst>
            <a:outerShdw blurRad="12700" dist="12700" dir="2700000" algn="bl" rotWithShape="0">
              <a:srgbClr val="000000">
                <a:alpha val="10000"/>
              </a:srgbClr>
            </a:outerShdw>
          </a:effectLst>
        </p:spPr>
        <p:txBody>
          <a:bodyPr/>
          <a:lstStyle/>
          <a:p>
            <a:endParaRPr lang="zh-CN" altLang="en-US"/>
          </a:p>
        </p:txBody>
      </p:sp>
      <p:sp>
        <p:nvSpPr>
          <p:cNvPr id="10" name="Shape 8"/>
          <p:cNvSpPr/>
          <p:nvPr/>
        </p:nvSpPr>
        <p:spPr>
          <a:xfrm>
            <a:off x="3858768" y="2084832"/>
            <a:ext cx="1993392" cy="384048"/>
          </a:xfrm>
          <a:prstGeom prst="roundRect">
            <a:avLst>
              <a:gd name="adj" fmla="val 14286"/>
            </a:avLst>
          </a:prstGeom>
          <a:solidFill>
            <a:srgbClr val="2A9D8F"/>
          </a:solidFill>
          <a:ln w="12700">
            <a:solidFill>
              <a:srgbClr val="2A9D8F"/>
            </a:solidFill>
            <a:prstDash val="solid"/>
          </a:ln>
        </p:spPr>
        <p:txBody>
          <a:bodyPr/>
          <a:lstStyle/>
          <a:p>
            <a:endParaRPr lang="zh-CN" altLang="en-US"/>
          </a:p>
        </p:txBody>
      </p:sp>
      <p:sp>
        <p:nvSpPr>
          <p:cNvPr id="11" name="Text 9"/>
          <p:cNvSpPr/>
          <p:nvPr/>
        </p:nvSpPr>
        <p:spPr>
          <a:xfrm>
            <a:off x="3858768" y="2185416"/>
            <a:ext cx="1993392" cy="137160"/>
          </a:xfrm>
          <a:prstGeom prst="rect">
            <a:avLst/>
          </a:prstGeom>
          <a:noFill/>
          <a:ln/>
        </p:spPr>
        <p:txBody>
          <a:bodyPr wrap="square" lIns="0" tIns="0" rIns="0" bIns="0" rtlCol="0" anchor="ctr"/>
          <a:lstStyle/>
          <a:p>
            <a:pPr marL="0" indent="0" algn="ctr">
              <a:buNone/>
            </a:pPr>
            <a:r>
              <a:rPr lang="en-US" sz="1600" b="1" dirty="0">
                <a:solidFill>
                  <a:srgbClr val="FFFFFF"/>
                </a:solidFill>
              </a:rPr>
              <a:t>R2U-Net</a:t>
            </a:r>
            <a:endParaRPr lang="en-US" sz="1600" dirty="0"/>
          </a:p>
        </p:txBody>
      </p:sp>
      <p:sp>
        <p:nvSpPr>
          <p:cNvPr id="12" name="Text 10"/>
          <p:cNvSpPr/>
          <p:nvPr/>
        </p:nvSpPr>
        <p:spPr>
          <a:xfrm>
            <a:off x="3877056" y="2743200"/>
            <a:ext cx="1938528" cy="658368"/>
          </a:xfrm>
          <a:prstGeom prst="rect">
            <a:avLst/>
          </a:prstGeom>
          <a:noFill/>
          <a:ln/>
        </p:spPr>
        <p:txBody>
          <a:bodyPr wrap="square" lIns="0" tIns="0" rIns="0" bIns="0" rtlCol="0" anchor="ctr"/>
          <a:lstStyle/>
          <a:p>
            <a:pPr marL="0" indent="0" algn="ctr">
              <a:buNone/>
            </a:pPr>
            <a:r>
              <a:rPr lang="en-US" sz="1220" dirty="0">
                <a:solidFill>
                  <a:srgbClr val="1F2937"/>
                </a:solidFill>
              </a:rPr>
              <a:t>Adds recurrent residual blocks to refine features</a:t>
            </a:r>
            <a:endParaRPr lang="en-US" sz="1220" dirty="0"/>
          </a:p>
        </p:txBody>
      </p:sp>
      <p:sp>
        <p:nvSpPr>
          <p:cNvPr id="14" name="Shape 12"/>
          <p:cNvSpPr/>
          <p:nvPr/>
        </p:nvSpPr>
        <p:spPr>
          <a:xfrm>
            <a:off x="6528816" y="1874520"/>
            <a:ext cx="2359152" cy="2011680"/>
          </a:xfrm>
          <a:prstGeom prst="roundRect">
            <a:avLst>
              <a:gd name="adj" fmla="val 3636"/>
            </a:avLst>
          </a:prstGeom>
          <a:solidFill>
            <a:srgbClr val="FFFFFF"/>
          </a:solidFill>
          <a:ln w="12700">
            <a:solidFill>
              <a:srgbClr val="D7E1EA"/>
            </a:solidFill>
            <a:prstDash val="solid"/>
          </a:ln>
          <a:effectLst>
            <a:outerShdw blurRad="12700" dist="12700" dir="2700000" algn="bl" rotWithShape="0">
              <a:srgbClr val="000000">
                <a:alpha val="10000"/>
              </a:srgbClr>
            </a:outerShdw>
          </a:effectLst>
        </p:spPr>
        <p:txBody>
          <a:bodyPr/>
          <a:lstStyle/>
          <a:p>
            <a:endParaRPr lang="zh-CN" altLang="en-US"/>
          </a:p>
        </p:txBody>
      </p:sp>
      <p:sp>
        <p:nvSpPr>
          <p:cNvPr id="15" name="Shape 13"/>
          <p:cNvSpPr/>
          <p:nvPr/>
        </p:nvSpPr>
        <p:spPr>
          <a:xfrm>
            <a:off x="6711696" y="2084832"/>
            <a:ext cx="1993392" cy="384048"/>
          </a:xfrm>
          <a:prstGeom prst="roundRect">
            <a:avLst>
              <a:gd name="adj" fmla="val 14286"/>
            </a:avLst>
          </a:prstGeom>
          <a:solidFill>
            <a:srgbClr val="E9C46A"/>
          </a:solidFill>
          <a:ln w="12700">
            <a:solidFill>
              <a:srgbClr val="E9C46A"/>
            </a:solidFill>
            <a:prstDash val="solid"/>
          </a:ln>
        </p:spPr>
        <p:txBody>
          <a:bodyPr/>
          <a:lstStyle/>
          <a:p>
            <a:endParaRPr lang="zh-CN" altLang="en-US"/>
          </a:p>
        </p:txBody>
      </p:sp>
      <p:sp>
        <p:nvSpPr>
          <p:cNvPr id="16" name="Text 14"/>
          <p:cNvSpPr/>
          <p:nvPr/>
        </p:nvSpPr>
        <p:spPr>
          <a:xfrm>
            <a:off x="6711696" y="2185416"/>
            <a:ext cx="1993392" cy="137160"/>
          </a:xfrm>
          <a:prstGeom prst="rect">
            <a:avLst/>
          </a:prstGeom>
          <a:noFill/>
          <a:ln/>
        </p:spPr>
        <p:txBody>
          <a:bodyPr wrap="square" lIns="0" tIns="0" rIns="0" bIns="0" rtlCol="0" anchor="ctr"/>
          <a:lstStyle/>
          <a:p>
            <a:pPr marL="0" indent="0" algn="ctr">
              <a:buNone/>
            </a:pPr>
            <a:r>
              <a:rPr lang="en-US" sz="1600" b="1" dirty="0">
                <a:solidFill>
                  <a:srgbClr val="FFFFFF"/>
                </a:solidFill>
              </a:rPr>
              <a:t>Attention U-Net</a:t>
            </a:r>
            <a:endParaRPr lang="en-US" sz="1600" dirty="0"/>
          </a:p>
        </p:txBody>
      </p:sp>
      <p:sp>
        <p:nvSpPr>
          <p:cNvPr id="17" name="Text 15"/>
          <p:cNvSpPr/>
          <p:nvPr/>
        </p:nvSpPr>
        <p:spPr>
          <a:xfrm>
            <a:off x="6729984" y="2743200"/>
            <a:ext cx="1938528" cy="658368"/>
          </a:xfrm>
          <a:prstGeom prst="rect">
            <a:avLst/>
          </a:prstGeom>
          <a:noFill/>
          <a:ln/>
        </p:spPr>
        <p:txBody>
          <a:bodyPr wrap="square" lIns="0" tIns="0" rIns="0" bIns="0" rtlCol="0" anchor="ctr"/>
          <a:lstStyle/>
          <a:p>
            <a:pPr marL="0" indent="0" algn="ctr">
              <a:buNone/>
            </a:pPr>
            <a:r>
              <a:rPr lang="en-US" sz="1220" dirty="0">
                <a:solidFill>
                  <a:srgbClr val="1F2937"/>
                </a:solidFill>
              </a:rPr>
              <a:t>Applies attention gates to filter skip features</a:t>
            </a:r>
            <a:endParaRPr lang="en-US" sz="1220" dirty="0"/>
          </a:p>
        </p:txBody>
      </p:sp>
      <p:sp>
        <p:nvSpPr>
          <p:cNvPr id="19" name="Shape 17"/>
          <p:cNvSpPr/>
          <p:nvPr/>
        </p:nvSpPr>
        <p:spPr>
          <a:xfrm>
            <a:off x="9381744" y="1874520"/>
            <a:ext cx="2359152" cy="2011680"/>
          </a:xfrm>
          <a:prstGeom prst="roundRect">
            <a:avLst>
              <a:gd name="adj" fmla="val 3636"/>
            </a:avLst>
          </a:prstGeom>
          <a:solidFill>
            <a:srgbClr val="FFFFFF"/>
          </a:solidFill>
          <a:ln w="12700">
            <a:solidFill>
              <a:srgbClr val="D7E1EA"/>
            </a:solidFill>
            <a:prstDash val="solid"/>
          </a:ln>
          <a:effectLst>
            <a:outerShdw blurRad="12700" dist="12700" dir="2700000" algn="bl" rotWithShape="0">
              <a:srgbClr val="000000">
                <a:alpha val="10000"/>
              </a:srgbClr>
            </a:outerShdw>
          </a:effectLst>
        </p:spPr>
        <p:txBody>
          <a:bodyPr/>
          <a:lstStyle/>
          <a:p>
            <a:endParaRPr lang="zh-CN" altLang="en-US"/>
          </a:p>
        </p:txBody>
      </p:sp>
      <p:sp>
        <p:nvSpPr>
          <p:cNvPr id="20" name="Shape 18"/>
          <p:cNvSpPr/>
          <p:nvPr/>
        </p:nvSpPr>
        <p:spPr>
          <a:xfrm>
            <a:off x="9564624" y="2084832"/>
            <a:ext cx="1993392" cy="384048"/>
          </a:xfrm>
          <a:prstGeom prst="roundRect">
            <a:avLst>
              <a:gd name="adj" fmla="val 14286"/>
            </a:avLst>
          </a:prstGeom>
          <a:solidFill>
            <a:srgbClr val="E76F51"/>
          </a:solidFill>
          <a:ln w="12700">
            <a:solidFill>
              <a:srgbClr val="E76F51"/>
            </a:solidFill>
            <a:prstDash val="solid"/>
          </a:ln>
        </p:spPr>
        <p:txBody>
          <a:bodyPr/>
          <a:lstStyle/>
          <a:p>
            <a:endParaRPr lang="zh-CN" altLang="en-US"/>
          </a:p>
        </p:txBody>
      </p:sp>
      <p:sp>
        <p:nvSpPr>
          <p:cNvPr id="21" name="Text 19"/>
          <p:cNvSpPr/>
          <p:nvPr/>
        </p:nvSpPr>
        <p:spPr>
          <a:xfrm>
            <a:off x="9564624" y="2185416"/>
            <a:ext cx="1993392" cy="137160"/>
          </a:xfrm>
          <a:prstGeom prst="rect">
            <a:avLst/>
          </a:prstGeom>
          <a:noFill/>
          <a:ln/>
        </p:spPr>
        <p:txBody>
          <a:bodyPr wrap="square" lIns="0" tIns="0" rIns="0" bIns="0" rtlCol="0" anchor="ctr"/>
          <a:lstStyle/>
          <a:p>
            <a:pPr marL="0" indent="0" algn="ctr">
              <a:buNone/>
            </a:pPr>
            <a:r>
              <a:rPr lang="en-US" sz="1600" b="1" dirty="0">
                <a:solidFill>
                  <a:srgbClr val="FFFFFF"/>
                </a:solidFill>
              </a:rPr>
              <a:t>Attention R2U-Net</a:t>
            </a:r>
            <a:endParaRPr lang="en-US" sz="1600" dirty="0"/>
          </a:p>
        </p:txBody>
      </p:sp>
      <p:sp>
        <p:nvSpPr>
          <p:cNvPr id="22" name="Text 20"/>
          <p:cNvSpPr/>
          <p:nvPr/>
        </p:nvSpPr>
        <p:spPr>
          <a:xfrm>
            <a:off x="9582912" y="2743200"/>
            <a:ext cx="1938528" cy="658368"/>
          </a:xfrm>
          <a:prstGeom prst="rect">
            <a:avLst/>
          </a:prstGeom>
          <a:noFill/>
          <a:ln/>
        </p:spPr>
        <p:txBody>
          <a:bodyPr wrap="square" lIns="0" tIns="0" rIns="0" bIns="0" rtlCol="0" anchor="ctr"/>
          <a:lstStyle/>
          <a:p>
            <a:pPr marL="0" indent="0" algn="ctr">
              <a:buNone/>
            </a:pPr>
            <a:r>
              <a:rPr lang="en-US" sz="1220" dirty="0">
                <a:solidFill>
                  <a:srgbClr val="1F2937"/>
                </a:solidFill>
              </a:rPr>
              <a:t>Combines recurrence and attention for a stronger final design</a:t>
            </a:r>
            <a:endParaRPr lang="en-US" sz="1220" dirty="0"/>
          </a:p>
        </p:txBody>
      </p:sp>
      <p:sp>
        <p:nvSpPr>
          <p:cNvPr id="23" name="Shape 21"/>
          <p:cNvSpPr/>
          <p:nvPr/>
        </p:nvSpPr>
        <p:spPr>
          <a:xfrm>
            <a:off x="960120" y="4526280"/>
            <a:ext cx="4983480" cy="1078992"/>
          </a:xfrm>
          <a:prstGeom prst="roundRect">
            <a:avLst>
              <a:gd name="adj" fmla="val 6780"/>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24" name="Shape 22"/>
          <p:cNvSpPr/>
          <p:nvPr/>
        </p:nvSpPr>
        <p:spPr>
          <a:xfrm>
            <a:off x="978408" y="4544568"/>
            <a:ext cx="73152" cy="1042416"/>
          </a:xfrm>
          <a:prstGeom prst="rect">
            <a:avLst/>
          </a:prstGeom>
          <a:solidFill>
            <a:srgbClr val="123B5D"/>
          </a:solidFill>
          <a:ln w="12700">
            <a:solidFill>
              <a:srgbClr val="123B5D"/>
            </a:solidFill>
            <a:prstDash val="solid"/>
          </a:ln>
        </p:spPr>
        <p:txBody>
          <a:bodyPr/>
          <a:lstStyle/>
          <a:p>
            <a:endParaRPr lang="zh-CN" altLang="en-US"/>
          </a:p>
        </p:txBody>
      </p:sp>
      <p:sp>
        <p:nvSpPr>
          <p:cNvPr id="25" name="Text 23"/>
          <p:cNvSpPr/>
          <p:nvPr/>
        </p:nvSpPr>
        <p:spPr>
          <a:xfrm>
            <a:off x="1161288" y="4690872"/>
            <a:ext cx="4663440" cy="274320"/>
          </a:xfrm>
          <a:prstGeom prst="rect">
            <a:avLst/>
          </a:prstGeom>
          <a:noFill/>
          <a:ln/>
        </p:spPr>
        <p:txBody>
          <a:bodyPr wrap="square" lIns="0" tIns="0" rIns="0" bIns="0" rtlCol="0" anchor="ctr"/>
          <a:lstStyle/>
          <a:p>
            <a:pPr marL="0" indent="0">
              <a:buNone/>
            </a:pPr>
            <a:r>
              <a:rPr lang="en-US" sz="1600" b="1" dirty="0">
                <a:solidFill>
                  <a:srgbClr val="1F2937"/>
                </a:solidFill>
              </a:rPr>
              <a:t>Design logic</a:t>
            </a:r>
            <a:r>
              <a:rPr lang="zh-CN" altLang="en-US" sz="1600" b="1" dirty="0">
                <a:solidFill>
                  <a:srgbClr val="1F2937"/>
                </a:solidFill>
              </a:rPr>
              <a:t>：</a:t>
            </a:r>
            <a:endParaRPr lang="en-US" sz="1600" dirty="0"/>
          </a:p>
        </p:txBody>
      </p:sp>
      <p:sp>
        <p:nvSpPr>
          <p:cNvPr id="26" name="Text 24"/>
          <p:cNvSpPr/>
          <p:nvPr/>
        </p:nvSpPr>
        <p:spPr>
          <a:xfrm>
            <a:off x="1161288" y="4979148"/>
            <a:ext cx="4663440" cy="607835"/>
          </a:xfrm>
          <a:prstGeom prst="rect">
            <a:avLst/>
          </a:prstGeom>
          <a:noFill/>
          <a:ln/>
        </p:spPr>
        <p:txBody>
          <a:bodyPr wrap="square" lIns="127" tIns="127" rIns="127" bIns="127" rtlCol="0" anchor="t"/>
          <a:lstStyle/>
          <a:p>
            <a:r>
              <a:rPr lang="en-US" sz="1220" dirty="0">
                <a:solidFill>
                  <a:srgbClr val="1F2937"/>
                </a:solidFill>
              </a:rPr>
              <a:t>• Each model underwent parameter tuning and adaptation on the CathAction dataset, and was trained and debugged extensively to achieve its optimal performance.</a:t>
            </a:r>
            <a:endParaRPr lang="en-US" sz="1220" dirty="0">
              <a:highlight>
                <a:srgbClr val="FFFF00"/>
              </a:highlight>
            </a:endParaRPr>
          </a:p>
        </p:txBody>
      </p:sp>
      <p:sp>
        <p:nvSpPr>
          <p:cNvPr id="27" name="Shape 25"/>
          <p:cNvSpPr/>
          <p:nvPr/>
        </p:nvSpPr>
        <p:spPr>
          <a:xfrm>
            <a:off x="6199632" y="4526280"/>
            <a:ext cx="4983480" cy="1078992"/>
          </a:xfrm>
          <a:prstGeom prst="roundRect">
            <a:avLst>
              <a:gd name="adj" fmla="val 6780"/>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28" name="Shape 26"/>
          <p:cNvSpPr/>
          <p:nvPr/>
        </p:nvSpPr>
        <p:spPr>
          <a:xfrm>
            <a:off x="6217920" y="4544568"/>
            <a:ext cx="73152" cy="1042416"/>
          </a:xfrm>
          <a:prstGeom prst="rect">
            <a:avLst/>
          </a:prstGeom>
          <a:solidFill>
            <a:srgbClr val="5B8C5A"/>
          </a:solidFill>
          <a:ln w="12700">
            <a:solidFill>
              <a:srgbClr val="5B8C5A"/>
            </a:solidFill>
            <a:prstDash val="solid"/>
          </a:ln>
        </p:spPr>
        <p:txBody>
          <a:bodyPr/>
          <a:lstStyle/>
          <a:p>
            <a:endParaRPr lang="zh-CN" altLang="en-US"/>
          </a:p>
        </p:txBody>
      </p:sp>
      <p:sp>
        <p:nvSpPr>
          <p:cNvPr id="29" name="Text 27"/>
          <p:cNvSpPr/>
          <p:nvPr/>
        </p:nvSpPr>
        <p:spPr>
          <a:xfrm>
            <a:off x="6400800" y="4690872"/>
            <a:ext cx="4663440" cy="274320"/>
          </a:xfrm>
          <a:prstGeom prst="rect">
            <a:avLst/>
          </a:prstGeom>
          <a:noFill/>
          <a:ln/>
        </p:spPr>
        <p:txBody>
          <a:bodyPr wrap="square" lIns="0" tIns="0" rIns="0" bIns="0" rtlCol="0" anchor="ctr"/>
          <a:lstStyle/>
          <a:p>
            <a:r>
              <a:rPr lang="en-US" sz="1600" b="1" dirty="0">
                <a:solidFill>
                  <a:srgbClr val="1F2937"/>
                </a:solidFill>
              </a:rPr>
              <a:t>Training result verification</a:t>
            </a:r>
            <a:r>
              <a:rPr lang="zh-CN" altLang="en-US" sz="1600" b="1" dirty="0">
                <a:solidFill>
                  <a:srgbClr val="1F2937"/>
                </a:solidFill>
              </a:rPr>
              <a:t>：</a:t>
            </a:r>
            <a:endParaRPr lang="en-US" sz="1600" dirty="0"/>
          </a:p>
        </p:txBody>
      </p:sp>
      <p:sp>
        <p:nvSpPr>
          <p:cNvPr id="30" name="Text 28"/>
          <p:cNvSpPr/>
          <p:nvPr/>
        </p:nvSpPr>
        <p:spPr>
          <a:xfrm>
            <a:off x="6400800" y="5038344"/>
            <a:ext cx="4663440" cy="438912"/>
          </a:xfrm>
          <a:prstGeom prst="rect">
            <a:avLst/>
          </a:prstGeom>
          <a:noFill/>
          <a:ln/>
        </p:spPr>
        <p:txBody>
          <a:bodyPr wrap="square" lIns="127" tIns="127" rIns="127" bIns="127" rtlCol="0" anchor="t"/>
          <a:lstStyle/>
          <a:p>
            <a:r>
              <a:rPr lang="en-US" sz="1220" dirty="0">
                <a:solidFill>
                  <a:srgbClr val="1F2937"/>
                </a:solidFill>
              </a:rPr>
              <a:t>• A simple front-end program is used to demonstrate the predictive performance of the trained model.</a:t>
            </a:r>
            <a:endParaRPr lang="en-US" sz="1220" dirty="0">
              <a:highlight>
                <a:srgbClr val="FFFF00"/>
              </a:highlight>
            </a:endParaRPr>
          </a:p>
        </p:txBody>
      </p:sp>
      <p:sp>
        <p:nvSpPr>
          <p:cNvPr id="31" name="Slide Number Placeholder 0"/>
          <p:cNvSpPr>
            <a:spLocks noGrp="1"/>
          </p:cNvSpPr>
          <p:nvPr>
            <p:ph type="sldNum" sz="quarter" idx="4294967295"/>
          </p:nvPr>
        </p:nvSpPr>
        <p:spPr>
          <a:xfrm>
            <a:off x="11612880" y="6574536"/>
            <a:ext cx="36576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24FF6-80EA-0221-7CB0-0AE3CEB2226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225443D-47DD-BB5F-A298-04C3BD3CC0F2}"/>
              </a:ext>
            </a:extLst>
          </p:cNvPr>
          <p:cNvSpPr/>
          <p:nvPr/>
        </p:nvSpPr>
        <p:spPr>
          <a:xfrm>
            <a:off x="562115" y="504364"/>
            <a:ext cx="8046720" cy="256032"/>
          </a:xfrm>
          <a:prstGeom prst="rect">
            <a:avLst/>
          </a:prstGeom>
          <a:noFill/>
          <a:ln/>
        </p:spPr>
        <p:txBody>
          <a:bodyPr wrap="square" lIns="0" tIns="0" rIns="0" bIns="0" rtlCol="0" anchor="ctr"/>
          <a:lstStyle/>
          <a:p>
            <a:r>
              <a:rPr lang="en-US" dirty="0">
                <a:solidFill>
                  <a:srgbClr val="5B6678"/>
                </a:solidFill>
              </a:rPr>
              <a:t>Front-end program demonstration</a:t>
            </a:r>
            <a:r>
              <a:rPr lang="zh-CN" altLang="en-US" dirty="0">
                <a:solidFill>
                  <a:srgbClr val="5B6678"/>
                </a:solidFill>
              </a:rPr>
              <a:t>：</a:t>
            </a:r>
            <a:endParaRPr lang="en-US" dirty="0"/>
          </a:p>
        </p:txBody>
      </p:sp>
      <p:sp>
        <p:nvSpPr>
          <p:cNvPr id="35" name="Slide Number Placeholder 0">
            <a:extLst>
              <a:ext uri="{FF2B5EF4-FFF2-40B4-BE49-F238E27FC236}">
                <a16:creationId xmlns:a16="http://schemas.microsoft.com/office/drawing/2014/main" id="{B6181B74-57DD-D3E6-7293-2522CF0B6209}"/>
              </a:ext>
            </a:extLst>
          </p:cNvPr>
          <p:cNvSpPr>
            <a:spLocks noGrp="1"/>
          </p:cNvSpPr>
          <p:nvPr>
            <p:ph type="sldNum" sz="quarter" idx="4294967295"/>
          </p:nvPr>
        </p:nvSpPr>
        <p:spPr>
          <a:xfrm>
            <a:off x="11612880" y="6574536"/>
            <a:ext cx="36576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7</a:t>
            </a:fld>
            <a:endParaRPr lang="en-US"/>
          </a:p>
        </p:txBody>
      </p:sp>
      <p:pic>
        <p:nvPicPr>
          <p:cNvPr id="37" name="图片 36">
            <a:extLst>
              <a:ext uri="{FF2B5EF4-FFF2-40B4-BE49-F238E27FC236}">
                <a16:creationId xmlns:a16="http://schemas.microsoft.com/office/drawing/2014/main" id="{7D5BF4C7-0A06-75A4-4870-BB0BCC51F637}"/>
              </a:ext>
            </a:extLst>
          </p:cNvPr>
          <p:cNvPicPr>
            <a:picLocks noChangeAspect="1"/>
          </p:cNvPicPr>
          <p:nvPr/>
        </p:nvPicPr>
        <p:blipFill>
          <a:blip r:embed="rId3"/>
          <a:stretch>
            <a:fillRect/>
          </a:stretch>
        </p:blipFill>
        <p:spPr>
          <a:xfrm>
            <a:off x="216568" y="1196474"/>
            <a:ext cx="11762072" cy="4465051"/>
          </a:xfrm>
          <a:prstGeom prst="rect">
            <a:avLst/>
          </a:prstGeom>
        </p:spPr>
      </p:pic>
    </p:spTree>
    <p:extLst>
      <p:ext uri="{BB962C8B-B14F-4D97-AF65-F5344CB8AC3E}">
        <p14:creationId xmlns:p14="http://schemas.microsoft.com/office/powerpoint/2010/main" val="164888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8046720" cy="411480"/>
          </a:xfrm>
          <a:prstGeom prst="rect">
            <a:avLst/>
          </a:prstGeom>
          <a:noFill/>
          <a:ln/>
        </p:spPr>
        <p:txBody>
          <a:bodyPr wrap="square" lIns="0" tIns="0" rIns="0" bIns="0" rtlCol="0" anchor="ctr"/>
          <a:lstStyle/>
          <a:p>
            <a:pPr marL="0" indent="0">
              <a:buNone/>
            </a:pPr>
            <a:r>
              <a:rPr lang="en-US" sz="2600" b="1" dirty="0">
                <a:solidFill>
                  <a:srgbClr val="123B5D"/>
                </a:solidFill>
                <a:latin typeface="Aptos Display" pitchFamily="34" charset="0"/>
                <a:ea typeface="Aptos Display" pitchFamily="34" charset="-122"/>
                <a:cs typeface="Aptos Display" pitchFamily="34" charset="-120"/>
              </a:rPr>
              <a:t>4. Final software product</a:t>
            </a:r>
            <a:endParaRPr lang="en-US" sz="2600" dirty="0"/>
          </a:p>
        </p:txBody>
      </p:sp>
      <p:sp>
        <p:nvSpPr>
          <p:cNvPr id="3" name="Text 1"/>
          <p:cNvSpPr/>
          <p:nvPr/>
        </p:nvSpPr>
        <p:spPr>
          <a:xfrm>
            <a:off x="658368" y="841248"/>
            <a:ext cx="8046720" cy="256032"/>
          </a:xfrm>
          <a:prstGeom prst="rect">
            <a:avLst/>
          </a:prstGeom>
          <a:noFill/>
          <a:ln/>
        </p:spPr>
        <p:txBody>
          <a:bodyPr wrap="square" lIns="0" tIns="0" rIns="0" bIns="0" rtlCol="0" anchor="ctr"/>
          <a:lstStyle/>
          <a:p>
            <a:pPr marL="0" indent="0">
              <a:buNone/>
            </a:pPr>
            <a:r>
              <a:rPr lang="en-US" sz="1150" dirty="0">
                <a:solidFill>
                  <a:srgbClr val="5B6678"/>
                </a:solidFill>
              </a:rPr>
              <a:t>From raw data to trained checkpoint and test evaluation</a:t>
            </a:r>
            <a:endParaRPr lang="en-US" sz="1150" dirty="0"/>
          </a:p>
        </p:txBody>
      </p:sp>
      <p:sp>
        <p:nvSpPr>
          <p:cNvPr id="4" name="Shape 2"/>
          <p:cNvSpPr/>
          <p:nvPr/>
        </p:nvSpPr>
        <p:spPr>
          <a:xfrm>
            <a:off x="868680" y="1554480"/>
            <a:ext cx="4983480" cy="841248"/>
          </a:xfrm>
          <a:prstGeom prst="roundRect">
            <a:avLst>
              <a:gd name="adj" fmla="val 5435"/>
            </a:avLst>
          </a:prstGeom>
          <a:solidFill>
            <a:srgbClr val="F7FAFD"/>
          </a:solidFill>
          <a:ln w="12700">
            <a:solidFill>
              <a:srgbClr val="D7E1EA"/>
            </a:solidFill>
            <a:prstDash val="solid"/>
          </a:ln>
        </p:spPr>
        <p:txBody>
          <a:bodyPr/>
          <a:lstStyle/>
          <a:p>
            <a:endParaRPr lang="zh-CN" altLang="en-US"/>
          </a:p>
        </p:txBody>
      </p:sp>
      <p:sp>
        <p:nvSpPr>
          <p:cNvPr id="5" name="Shape 3"/>
          <p:cNvSpPr/>
          <p:nvPr/>
        </p:nvSpPr>
        <p:spPr>
          <a:xfrm>
            <a:off x="1051560" y="1709928"/>
            <a:ext cx="384048" cy="384048"/>
          </a:xfrm>
          <a:prstGeom prst="ellipse">
            <a:avLst/>
          </a:prstGeom>
          <a:solidFill>
            <a:srgbClr val="2A9D8F"/>
          </a:solidFill>
          <a:ln w="12700">
            <a:solidFill>
              <a:srgbClr val="2A9D8F"/>
            </a:solidFill>
            <a:prstDash val="solid"/>
          </a:ln>
        </p:spPr>
        <p:txBody>
          <a:bodyPr/>
          <a:lstStyle/>
          <a:p>
            <a:endParaRPr lang="zh-CN" altLang="en-US"/>
          </a:p>
        </p:txBody>
      </p:sp>
      <p:sp>
        <p:nvSpPr>
          <p:cNvPr id="6" name="Text 4"/>
          <p:cNvSpPr/>
          <p:nvPr/>
        </p:nvSpPr>
        <p:spPr>
          <a:xfrm>
            <a:off x="1051560" y="1856232"/>
            <a:ext cx="384048" cy="10972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600200" y="1709928"/>
            <a:ext cx="1645920" cy="146304"/>
          </a:xfrm>
          <a:prstGeom prst="rect">
            <a:avLst/>
          </a:prstGeom>
          <a:noFill/>
          <a:ln/>
        </p:spPr>
        <p:txBody>
          <a:bodyPr wrap="square" lIns="0" tIns="0" rIns="0" bIns="0" rtlCol="0" anchor="ctr"/>
          <a:lstStyle/>
          <a:p>
            <a:pPr marL="0" indent="0">
              <a:buNone/>
            </a:pPr>
            <a:r>
              <a:rPr lang="en-US" sz="1450" b="1" dirty="0">
                <a:solidFill>
                  <a:srgbClr val="1F2937"/>
                </a:solidFill>
              </a:rPr>
              <a:t>1. Data loader</a:t>
            </a:r>
            <a:endParaRPr lang="en-US" sz="1450" dirty="0"/>
          </a:p>
        </p:txBody>
      </p:sp>
      <p:sp>
        <p:nvSpPr>
          <p:cNvPr id="8" name="Text 6"/>
          <p:cNvSpPr/>
          <p:nvPr/>
        </p:nvSpPr>
        <p:spPr>
          <a:xfrm>
            <a:off x="1600200" y="1897380"/>
            <a:ext cx="3931920" cy="323409"/>
          </a:xfrm>
          <a:prstGeom prst="rect">
            <a:avLst/>
          </a:prstGeom>
          <a:noFill/>
          <a:ln/>
        </p:spPr>
        <p:txBody>
          <a:bodyPr wrap="square" lIns="0" tIns="0" rIns="0" bIns="0" rtlCol="0" anchor="ctr"/>
          <a:lstStyle/>
          <a:p>
            <a:r>
              <a:rPr lang="en-US" sz="1160" dirty="0">
                <a:solidFill>
                  <a:srgbClr val="5B6678"/>
                </a:solidFill>
              </a:rPr>
              <a:t>Read the CathAction dataset, clean the data, and then input it into the program for training.</a:t>
            </a:r>
            <a:endParaRPr lang="en-US" sz="1160" dirty="0"/>
          </a:p>
        </p:txBody>
      </p:sp>
      <p:sp>
        <p:nvSpPr>
          <p:cNvPr id="9" name="Shape 7"/>
          <p:cNvSpPr/>
          <p:nvPr/>
        </p:nvSpPr>
        <p:spPr>
          <a:xfrm>
            <a:off x="868680" y="2514600"/>
            <a:ext cx="4983480" cy="841248"/>
          </a:xfrm>
          <a:prstGeom prst="roundRect">
            <a:avLst>
              <a:gd name="adj" fmla="val 5435"/>
            </a:avLst>
          </a:prstGeom>
          <a:solidFill>
            <a:srgbClr val="F0F7F6"/>
          </a:solidFill>
          <a:ln w="12700">
            <a:solidFill>
              <a:srgbClr val="D7E1EA"/>
            </a:solidFill>
            <a:prstDash val="solid"/>
          </a:ln>
        </p:spPr>
        <p:txBody>
          <a:bodyPr/>
          <a:lstStyle/>
          <a:p>
            <a:endParaRPr lang="zh-CN" altLang="en-US"/>
          </a:p>
        </p:txBody>
      </p:sp>
      <p:sp>
        <p:nvSpPr>
          <p:cNvPr id="10" name="Shape 8"/>
          <p:cNvSpPr/>
          <p:nvPr/>
        </p:nvSpPr>
        <p:spPr>
          <a:xfrm>
            <a:off x="1051560" y="2670048"/>
            <a:ext cx="384048" cy="384048"/>
          </a:xfrm>
          <a:prstGeom prst="ellipse">
            <a:avLst/>
          </a:prstGeom>
          <a:solidFill>
            <a:srgbClr val="5DA9E9"/>
          </a:solidFill>
          <a:ln w="12700">
            <a:solidFill>
              <a:srgbClr val="5DA9E9"/>
            </a:solidFill>
            <a:prstDash val="solid"/>
          </a:ln>
        </p:spPr>
        <p:txBody>
          <a:bodyPr/>
          <a:lstStyle/>
          <a:p>
            <a:endParaRPr lang="zh-CN" altLang="en-US"/>
          </a:p>
        </p:txBody>
      </p:sp>
      <p:sp>
        <p:nvSpPr>
          <p:cNvPr id="11" name="Text 9"/>
          <p:cNvSpPr/>
          <p:nvPr/>
        </p:nvSpPr>
        <p:spPr>
          <a:xfrm>
            <a:off x="1051560" y="2807208"/>
            <a:ext cx="384048" cy="10972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2" name="Text 10"/>
          <p:cNvSpPr/>
          <p:nvPr/>
        </p:nvSpPr>
        <p:spPr>
          <a:xfrm>
            <a:off x="1600200" y="2670048"/>
            <a:ext cx="1645920" cy="146304"/>
          </a:xfrm>
          <a:prstGeom prst="rect">
            <a:avLst/>
          </a:prstGeom>
          <a:noFill/>
          <a:ln/>
        </p:spPr>
        <p:txBody>
          <a:bodyPr wrap="square" lIns="0" tIns="0" rIns="0" bIns="0" rtlCol="0" anchor="ctr"/>
          <a:lstStyle/>
          <a:p>
            <a:pPr marL="0" indent="0">
              <a:buNone/>
            </a:pPr>
            <a:r>
              <a:rPr lang="en-US" sz="1450" b="1" dirty="0">
                <a:solidFill>
                  <a:srgbClr val="1F2937"/>
                </a:solidFill>
              </a:rPr>
              <a:t>2. Train models</a:t>
            </a:r>
            <a:endParaRPr lang="en-US" sz="1450" dirty="0"/>
          </a:p>
        </p:txBody>
      </p:sp>
      <p:sp>
        <p:nvSpPr>
          <p:cNvPr id="13" name="Text 11"/>
          <p:cNvSpPr/>
          <p:nvPr/>
        </p:nvSpPr>
        <p:spPr>
          <a:xfrm>
            <a:off x="1600200" y="2802636"/>
            <a:ext cx="3931920" cy="384048"/>
          </a:xfrm>
          <a:prstGeom prst="rect">
            <a:avLst/>
          </a:prstGeom>
          <a:noFill/>
          <a:ln/>
        </p:spPr>
        <p:txBody>
          <a:bodyPr wrap="square" lIns="0" tIns="0" rIns="0" bIns="0" rtlCol="0" anchor="ctr"/>
          <a:lstStyle/>
          <a:p>
            <a:pPr marL="0" indent="0">
              <a:buNone/>
            </a:pPr>
            <a:r>
              <a:rPr lang="en-US" sz="1160" dirty="0">
                <a:solidFill>
                  <a:srgbClr val="5B6678"/>
                </a:solidFill>
              </a:rPr>
              <a:t>Separate to train U-Net, R2U-Net, Attention U-Net and Attention R2U-Net.</a:t>
            </a:r>
            <a:endParaRPr lang="en-US" sz="1160" dirty="0"/>
          </a:p>
        </p:txBody>
      </p:sp>
      <p:sp>
        <p:nvSpPr>
          <p:cNvPr id="14" name="Shape 12"/>
          <p:cNvSpPr/>
          <p:nvPr/>
        </p:nvSpPr>
        <p:spPr>
          <a:xfrm>
            <a:off x="868680" y="3474720"/>
            <a:ext cx="4983480" cy="841248"/>
          </a:xfrm>
          <a:prstGeom prst="roundRect">
            <a:avLst>
              <a:gd name="adj" fmla="val 5435"/>
            </a:avLst>
          </a:prstGeom>
          <a:solidFill>
            <a:srgbClr val="F7FAFD"/>
          </a:solidFill>
          <a:ln w="12700">
            <a:solidFill>
              <a:srgbClr val="D7E1EA"/>
            </a:solidFill>
            <a:prstDash val="solid"/>
          </a:ln>
        </p:spPr>
        <p:txBody>
          <a:bodyPr/>
          <a:lstStyle/>
          <a:p>
            <a:endParaRPr lang="zh-CN" altLang="en-US"/>
          </a:p>
        </p:txBody>
      </p:sp>
      <p:sp>
        <p:nvSpPr>
          <p:cNvPr id="15" name="Shape 13"/>
          <p:cNvSpPr/>
          <p:nvPr/>
        </p:nvSpPr>
        <p:spPr>
          <a:xfrm>
            <a:off x="1051560" y="3630168"/>
            <a:ext cx="384048" cy="384048"/>
          </a:xfrm>
          <a:prstGeom prst="ellipse">
            <a:avLst/>
          </a:prstGeom>
          <a:solidFill>
            <a:srgbClr val="E9C46A"/>
          </a:solidFill>
          <a:ln w="12700">
            <a:solidFill>
              <a:srgbClr val="E9C46A"/>
            </a:solidFill>
            <a:prstDash val="solid"/>
          </a:ln>
        </p:spPr>
        <p:txBody>
          <a:bodyPr/>
          <a:lstStyle/>
          <a:p>
            <a:endParaRPr lang="zh-CN" altLang="en-US"/>
          </a:p>
        </p:txBody>
      </p:sp>
      <p:sp>
        <p:nvSpPr>
          <p:cNvPr id="16" name="Text 14"/>
          <p:cNvSpPr/>
          <p:nvPr/>
        </p:nvSpPr>
        <p:spPr>
          <a:xfrm>
            <a:off x="1042416" y="3767328"/>
            <a:ext cx="384048" cy="10972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7" name="Text 15"/>
          <p:cNvSpPr/>
          <p:nvPr/>
        </p:nvSpPr>
        <p:spPr>
          <a:xfrm>
            <a:off x="1600200" y="3630168"/>
            <a:ext cx="1645920" cy="146304"/>
          </a:xfrm>
          <a:prstGeom prst="rect">
            <a:avLst/>
          </a:prstGeom>
          <a:noFill/>
          <a:ln/>
        </p:spPr>
        <p:txBody>
          <a:bodyPr wrap="square" lIns="0" tIns="0" rIns="0" bIns="0" rtlCol="0" anchor="ctr"/>
          <a:lstStyle/>
          <a:p>
            <a:pPr marL="0" indent="0">
              <a:buNone/>
            </a:pPr>
            <a:r>
              <a:rPr lang="en-US" sz="1450" b="1" dirty="0">
                <a:solidFill>
                  <a:srgbClr val="1F2937"/>
                </a:solidFill>
              </a:rPr>
              <a:t>3. Save best model</a:t>
            </a:r>
            <a:endParaRPr lang="en-US" sz="1450" dirty="0"/>
          </a:p>
        </p:txBody>
      </p:sp>
      <p:sp>
        <p:nvSpPr>
          <p:cNvPr id="18" name="Text 16"/>
          <p:cNvSpPr/>
          <p:nvPr/>
        </p:nvSpPr>
        <p:spPr>
          <a:xfrm>
            <a:off x="1600200" y="3858768"/>
            <a:ext cx="3931920" cy="201168"/>
          </a:xfrm>
          <a:prstGeom prst="rect">
            <a:avLst/>
          </a:prstGeom>
          <a:noFill/>
          <a:ln/>
        </p:spPr>
        <p:txBody>
          <a:bodyPr wrap="square" lIns="0" tIns="0" rIns="0" bIns="0" rtlCol="0" anchor="ctr"/>
          <a:lstStyle/>
          <a:p>
            <a:pPr marL="0" indent="0">
              <a:buNone/>
            </a:pPr>
            <a:r>
              <a:rPr lang="en-US" sz="1160" dirty="0">
                <a:solidFill>
                  <a:srgbClr val="5B6678"/>
                </a:solidFill>
              </a:rPr>
              <a:t>Validation Dice is monitored and the best checkpoint is stored automatically.</a:t>
            </a:r>
            <a:endParaRPr lang="en-US" sz="1160" dirty="0"/>
          </a:p>
        </p:txBody>
      </p:sp>
      <p:sp>
        <p:nvSpPr>
          <p:cNvPr id="19" name="Shape 17"/>
          <p:cNvSpPr/>
          <p:nvPr/>
        </p:nvSpPr>
        <p:spPr>
          <a:xfrm>
            <a:off x="868680" y="4434840"/>
            <a:ext cx="4983480" cy="841248"/>
          </a:xfrm>
          <a:prstGeom prst="roundRect">
            <a:avLst>
              <a:gd name="adj" fmla="val 5435"/>
            </a:avLst>
          </a:prstGeom>
          <a:solidFill>
            <a:srgbClr val="F0F7F6"/>
          </a:solidFill>
          <a:ln w="12700">
            <a:solidFill>
              <a:srgbClr val="D7E1EA"/>
            </a:solidFill>
            <a:prstDash val="solid"/>
          </a:ln>
        </p:spPr>
        <p:txBody>
          <a:bodyPr/>
          <a:lstStyle/>
          <a:p>
            <a:endParaRPr lang="zh-CN" altLang="en-US"/>
          </a:p>
        </p:txBody>
      </p:sp>
      <p:sp>
        <p:nvSpPr>
          <p:cNvPr id="20" name="Shape 18"/>
          <p:cNvSpPr/>
          <p:nvPr/>
        </p:nvSpPr>
        <p:spPr>
          <a:xfrm>
            <a:off x="1051560" y="4590288"/>
            <a:ext cx="384048" cy="384048"/>
          </a:xfrm>
          <a:prstGeom prst="ellipse">
            <a:avLst/>
          </a:prstGeom>
          <a:solidFill>
            <a:srgbClr val="E76F51"/>
          </a:solidFill>
          <a:ln w="12700">
            <a:solidFill>
              <a:srgbClr val="E76F51"/>
            </a:solidFill>
            <a:prstDash val="solid"/>
          </a:ln>
        </p:spPr>
        <p:txBody>
          <a:bodyPr/>
          <a:lstStyle/>
          <a:p>
            <a:endParaRPr lang="zh-CN" altLang="en-US"/>
          </a:p>
        </p:txBody>
      </p:sp>
      <p:sp>
        <p:nvSpPr>
          <p:cNvPr id="21" name="Text 19"/>
          <p:cNvSpPr/>
          <p:nvPr/>
        </p:nvSpPr>
        <p:spPr>
          <a:xfrm>
            <a:off x="1033272" y="4736592"/>
            <a:ext cx="384048" cy="109728"/>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2" name="Text 20"/>
          <p:cNvSpPr/>
          <p:nvPr/>
        </p:nvSpPr>
        <p:spPr>
          <a:xfrm>
            <a:off x="1545336" y="4455053"/>
            <a:ext cx="2375034" cy="338328"/>
          </a:xfrm>
          <a:prstGeom prst="rect">
            <a:avLst/>
          </a:prstGeom>
          <a:noFill/>
          <a:ln/>
        </p:spPr>
        <p:txBody>
          <a:bodyPr wrap="square" lIns="0" tIns="0" rIns="0" bIns="0" rtlCol="0" anchor="ctr"/>
          <a:lstStyle/>
          <a:p>
            <a:pPr marL="0" indent="0">
              <a:buNone/>
            </a:pPr>
            <a:r>
              <a:rPr lang="en-US" sz="1450" b="1" dirty="0">
                <a:solidFill>
                  <a:srgbClr val="1F2937"/>
                </a:solidFill>
              </a:rPr>
              <a:t>4. Evaluate on test set</a:t>
            </a:r>
            <a:endParaRPr lang="en-US" sz="1450" dirty="0"/>
          </a:p>
        </p:txBody>
      </p:sp>
      <p:sp>
        <p:nvSpPr>
          <p:cNvPr id="23" name="Text 21"/>
          <p:cNvSpPr/>
          <p:nvPr/>
        </p:nvSpPr>
        <p:spPr>
          <a:xfrm>
            <a:off x="1600200" y="4818888"/>
            <a:ext cx="3931920" cy="201168"/>
          </a:xfrm>
          <a:prstGeom prst="rect">
            <a:avLst/>
          </a:prstGeom>
          <a:noFill/>
          <a:ln/>
        </p:spPr>
        <p:txBody>
          <a:bodyPr wrap="square" lIns="0" tIns="0" rIns="0" bIns="0" rtlCol="0" anchor="ctr"/>
          <a:lstStyle/>
          <a:p>
            <a:pPr marL="0" indent="0">
              <a:buNone/>
            </a:pPr>
            <a:r>
              <a:rPr lang="en-US" sz="1160" dirty="0">
                <a:solidFill>
                  <a:srgbClr val="5B6678"/>
                </a:solidFill>
              </a:rPr>
              <a:t>A separate script loads a checkpoint and reports per-class Dice and IoU.</a:t>
            </a:r>
            <a:endParaRPr lang="en-US" sz="1160" dirty="0"/>
          </a:p>
        </p:txBody>
      </p:sp>
      <p:sp>
        <p:nvSpPr>
          <p:cNvPr id="24" name="Shape 22"/>
          <p:cNvSpPr/>
          <p:nvPr/>
        </p:nvSpPr>
        <p:spPr>
          <a:xfrm>
            <a:off x="6217920" y="1600200"/>
            <a:ext cx="5029200" cy="4297680"/>
          </a:xfrm>
          <a:prstGeom prst="roundRect">
            <a:avLst>
              <a:gd name="adj" fmla="val 1702"/>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25" name="Text 23"/>
          <p:cNvSpPr/>
          <p:nvPr/>
        </p:nvSpPr>
        <p:spPr>
          <a:xfrm>
            <a:off x="6460236" y="1759257"/>
            <a:ext cx="4204556" cy="438912"/>
          </a:xfrm>
          <a:prstGeom prst="rect">
            <a:avLst/>
          </a:prstGeom>
          <a:noFill/>
          <a:ln/>
        </p:spPr>
        <p:txBody>
          <a:bodyPr wrap="square" lIns="0" tIns="0" rIns="0" bIns="0" rtlCol="0" anchor="ctr"/>
          <a:lstStyle/>
          <a:p>
            <a:pPr marL="0" indent="0">
              <a:buNone/>
            </a:pPr>
            <a:r>
              <a:rPr lang="en-US" sz="1700" b="1" dirty="0">
                <a:solidFill>
                  <a:srgbClr val="123B5D"/>
                </a:solidFill>
              </a:rPr>
              <a:t>What I would emphasise in the :</a:t>
            </a:r>
            <a:endParaRPr lang="en-US" sz="1700" dirty="0"/>
          </a:p>
        </p:txBody>
      </p:sp>
      <p:sp>
        <p:nvSpPr>
          <p:cNvPr id="26" name="Text 24"/>
          <p:cNvSpPr/>
          <p:nvPr/>
        </p:nvSpPr>
        <p:spPr>
          <a:xfrm>
            <a:off x="6473952" y="2267712"/>
            <a:ext cx="4370832" cy="1463040"/>
          </a:xfrm>
          <a:prstGeom prst="rect">
            <a:avLst/>
          </a:prstGeom>
          <a:noFill/>
          <a:ln/>
        </p:spPr>
        <p:txBody>
          <a:bodyPr wrap="square" lIns="254" tIns="254" rIns="254" bIns="254" rtlCol="0" anchor="ctr"/>
          <a:lstStyle/>
          <a:p>
            <a:pPr marL="0" indent="0">
              <a:buNone/>
            </a:pPr>
            <a:r>
              <a:rPr lang="en-US" sz="1300" dirty="0">
                <a:solidFill>
                  <a:srgbClr val="1F2937"/>
                </a:solidFill>
              </a:rPr>
              <a:t>• The codebase is modular: dataset, architecture, loss, training loop and evaluation are clearly separated.
• The project moved from a baseline to a family of stronger architectures while keeping the same task and metrics.
• The final product easier to extend with new datasets, losses or checkpoints.</a:t>
            </a:r>
            <a:endParaRPr lang="en-US" sz="1300" dirty="0"/>
          </a:p>
        </p:txBody>
      </p:sp>
      <p:sp>
        <p:nvSpPr>
          <p:cNvPr id="27" name="Shape 25"/>
          <p:cNvSpPr/>
          <p:nvPr/>
        </p:nvSpPr>
        <p:spPr>
          <a:xfrm>
            <a:off x="6537960" y="4069080"/>
            <a:ext cx="1325880" cy="822960"/>
          </a:xfrm>
          <a:prstGeom prst="roundRect">
            <a:avLst>
              <a:gd name="adj" fmla="val 6667"/>
            </a:avLst>
          </a:prstGeom>
          <a:solidFill>
            <a:srgbClr val="EEF6F4"/>
          </a:solidFill>
          <a:ln w="12700">
            <a:solidFill>
              <a:srgbClr val="CBE7E3"/>
            </a:solidFill>
            <a:prstDash val="solid"/>
          </a:ln>
        </p:spPr>
        <p:txBody>
          <a:bodyPr/>
          <a:lstStyle/>
          <a:p>
            <a:endParaRPr lang="zh-CN" altLang="en-US"/>
          </a:p>
        </p:txBody>
      </p:sp>
      <p:sp>
        <p:nvSpPr>
          <p:cNvPr id="28" name="Text 26"/>
          <p:cNvSpPr/>
          <p:nvPr/>
        </p:nvSpPr>
        <p:spPr>
          <a:xfrm>
            <a:off x="6656832" y="4279392"/>
            <a:ext cx="1078992" cy="320040"/>
          </a:xfrm>
          <a:prstGeom prst="rect">
            <a:avLst/>
          </a:prstGeom>
          <a:noFill/>
          <a:ln/>
        </p:spPr>
        <p:txBody>
          <a:bodyPr wrap="square" lIns="0" tIns="0" rIns="0" bIns="0" rtlCol="0" anchor="ctr"/>
          <a:lstStyle/>
          <a:p>
            <a:pPr marL="0" indent="0" algn="ctr">
              <a:buNone/>
            </a:pPr>
            <a:r>
              <a:rPr lang="en-US" sz="1400" b="1" dirty="0">
                <a:solidFill>
                  <a:srgbClr val="2A9D8F"/>
                </a:solidFill>
              </a:rPr>
              <a:t>Input</a:t>
            </a:r>
            <a:endParaRPr lang="en-US" sz="1400" dirty="0"/>
          </a:p>
          <a:p>
            <a:pPr marL="0" indent="0" algn="ctr">
              <a:buNone/>
            </a:pPr>
            <a:r>
              <a:rPr lang="en-US" sz="1400" b="1" dirty="0">
                <a:solidFill>
                  <a:srgbClr val="2A9D8F"/>
                </a:solidFill>
              </a:rPr>
              <a:t>images</a:t>
            </a:r>
            <a:endParaRPr lang="en-US" sz="1400" dirty="0"/>
          </a:p>
        </p:txBody>
      </p:sp>
      <p:sp>
        <p:nvSpPr>
          <p:cNvPr id="29" name="Shape 27"/>
          <p:cNvSpPr/>
          <p:nvPr/>
        </p:nvSpPr>
        <p:spPr>
          <a:xfrm>
            <a:off x="7973568" y="4325112"/>
            <a:ext cx="310896" cy="274320"/>
          </a:xfrm>
          <a:prstGeom prst="chevron">
            <a:avLst/>
          </a:prstGeom>
          <a:solidFill>
            <a:srgbClr val="C8D8E8"/>
          </a:solidFill>
          <a:ln w="12700">
            <a:solidFill>
              <a:srgbClr val="C8D8E8"/>
            </a:solidFill>
            <a:prstDash val="solid"/>
          </a:ln>
        </p:spPr>
        <p:txBody>
          <a:bodyPr/>
          <a:lstStyle/>
          <a:p>
            <a:endParaRPr lang="zh-CN" altLang="en-US"/>
          </a:p>
        </p:txBody>
      </p:sp>
      <p:sp>
        <p:nvSpPr>
          <p:cNvPr id="30" name="Shape 28"/>
          <p:cNvSpPr/>
          <p:nvPr/>
        </p:nvSpPr>
        <p:spPr>
          <a:xfrm>
            <a:off x="8321040" y="4069080"/>
            <a:ext cx="1508760" cy="822960"/>
          </a:xfrm>
          <a:prstGeom prst="roundRect">
            <a:avLst>
              <a:gd name="adj" fmla="val 6667"/>
            </a:avLst>
          </a:prstGeom>
          <a:solidFill>
            <a:srgbClr val="F4F7FB"/>
          </a:solidFill>
          <a:ln w="12700">
            <a:solidFill>
              <a:srgbClr val="D3DFEC"/>
            </a:solidFill>
            <a:prstDash val="solid"/>
          </a:ln>
        </p:spPr>
        <p:txBody>
          <a:bodyPr/>
          <a:lstStyle/>
          <a:p>
            <a:endParaRPr lang="zh-CN" altLang="en-US"/>
          </a:p>
        </p:txBody>
      </p:sp>
      <p:sp>
        <p:nvSpPr>
          <p:cNvPr id="31" name="Text 29"/>
          <p:cNvSpPr/>
          <p:nvPr/>
        </p:nvSpPr>
        <p:spPr>
          <a:xfrm>
            <a:off x="8430768" y="4279392"/>
            <a:ext cx="1261872" cy="320040"/>
          </a:xfrm>
          <a:prstGeom prst="rect">
            <a:avLst/>
          </a:prstGeom>
          <a:noFill/>
          <a:ln/>
        </p:spPr>
        <p:txBody>
          <a:bodyPr wrap="square" lIns="0" tIns="0" rIns="0" bIns="0" rtlCol="0" anchor="ctr"/>
          <a:lstStyle/>
          <a:p>
            <a:pPr marL="0" indent="0" algn="ctr">
              <a:buNone/>
            </a:pPr>
            <a:r>
              <a:rPr lang="en-US" sz="1400" b="1" dirty="0">
                <a:solidFill>
                  <a:srgbClr val="123B5D"/>
                </a:solidFill>
              </a:rPr>
              <a:t>Model</a:t>
            </a:r>
            <a:endParaRPr lang="en-US" sz="1400" dirty="0"/>
          </a:p>
          <a:p>
            <a:pPr marL="0" indent="0" algn="ctr">
              <a:buNone/>
            </a:pPr>
            <a:r>
              <a:rPr lang="en-US" sz="1400" b="1" dirty="0">
                <a:solidFill>
                  <a:srgbClr val="123B5D"/>
                </a:solidFill>
              </a:rPr>
              <a:t>checkpoint</a:t>
            </a:r>
            <a:endParaRPr lang="en-US" sz="1400" dirty="0"/>
          </a:p>
        </p:txBody>
      </p:sp>
      <p:sp>
        <p:nvSpPr>
          <p:cNvPr id="32" name="Shape 30"/>
          <p:cNvSpPr/>
          <p:nvPr/>
        </p:nvSpPr>
        <p:spPr>
          <a:xfrm>
            <a:off x="9930384" y="4325112"/>
            <a:ext cx="310896" cy="274320"/>
          </a:xfrm>
          <a:prstGeom prst="chevron">
            <a:avLst/>
          </a:prstGeom>
          <a:solidFill>
            <a:srgbClr val="C8D8E8"/>
          </a:solidFill>
          <a:ln w="12700">
            <a:solidFill>
              <a:srgbClr val="C8D8E8"/>
            </a:solidFill>
            <a:prstDash val="solid"/>
          </a:ln>
        </p:spPr>
        <p:txBody>
          <a:bodyPr/>
          <a:lstStyle/>
          <a:p>
            <a:endParaRPr lang="zh-CN" altLang="en-US"/>
          </a:p>
        </p:txBody>
      </p:sp>
      <p:sp>
        <p:nvSpPr>
          <p:cNvPr id="33" name="Shape 31"/>
          <p:cNvSpPr/>
          <p:nvPr/>
        </p:nvSpPr>
        <p:spPr>
          <a:xfrm>
            <a:off x="10259568" y="4069080"/>
            <a:ext cx="749808" cy="822960"/>
          </a:xfrm>
          <a:prstGeom prst="roundRect">
            <a:avLst>
              <a:gd name="adj" fmla="val 7317"/>
            </a:avLst>
          </a:prstGeom>
          <a:solidFill>
            <a:srgbClr val="FDF7EF"/>
          </a:solidFill>
          <a:ln w="12700">
            <a:solidFill>
              <a:srgbClr val="F1DBAE"/>
            </a:solidFill>
            <a:prstDash val="solid"/>
          </a:ln>
        </p:spPr>
        <p:txBody>
          <a:bodyPr/>
          <a:lstStyle/>
          <a:p>
            <a:endParaRPr lang="zh-CN" altLang="en-US"/>
          </a:p>
        </p:txBody>
      </p:sp>
      <p:sp>
        <p:nvSpPr>
          <p:cNvPr id="34" name="Text 32"/>
          <p:cNvSpPr/>
          <p:nvPr/>
        </p:nvSpPr>
        <p:spPr>
          <a:xfrm>
            <a:off x="10332720" y="4279392"/>
            <a:ext cx="603504" cy="320040"/>
          </a:xfrm>
          <a:prstGeom prst="rect">
            <a:avLst/>
          </a:prstGeom>
          <a:noFill/>
          <a:ln/>
        </p:spPr>
        <p:txBody>
          <a:bodyPr wrap="square" lIns="0" tIns="0" rIns="0" bIns="0" rtlCol="0" anchor="ctr"/>
          <a:lstStyle/>
          <a:p>
            <a:pPr marL="0" indent="0" algn="ctr">
              <a:buNone/>
            </a:pPr>
            <a:r>
              <a:rPr lang="en-US" sz="1400" b="1" dirty="0">
                <a:solidFill>
                  <a:srgbClr val="9A6A00"/>
                </a:solidFill>
              </a:rPr>
              <a:t>Dice</a:t>
            </a:r>
            <a:endParaRPr lang="en-US" sz="1400" dirty="0"/>
          </a:p>
          <a:p>
            <a:pPr marL="0" indent="0" algn="ctr">
              <a:buNone/>
            </a:pPr>
            <a:r>
              <a:rPr lang="en-US" sz="1400" b="1" dirty="0">
                <a:solidFill>
                  <a:srgbClr val="9A6A00"/>
                </a:solidFill>
              </a:rPr>
              <a:t>IoU</a:t>
            </a:r>
            <a:endParaRPr lang="en-US" sz="1400" dirty="0"/>
          </a:p>
        </p:txBody>
      </p:sp>
      <p:sp>
        <p:nvSpPr>
          <p:cNvPr id="35" name="Slide Number Placeholder 0"/>
          <p:cNvSpPr>
            <a:spLocks noGrp="1"/>
          </p:cNvSpPr>
          <p:nvPr>
            <p:ph type="sldNum" sz="quarter" idx="4294967295"/>
          </p:nvPr>
        </p:nvSpPr>
        <p:spPr>
          <a:xfrm>
            <a:off x="11612880" y="6574536"/>
            <a:ext cx="36576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8046720" cy="411480"/>
          </a:xfrm>
          <a:prstGeom prst="rect">
            <a:avLst/>
          </a:prstGeom>
          <a:noFill/>
          <a:ln/>
        </p:spPr>
        <p:txBody>
          <a:bodyPr wrap="square" lIns="0" tIns="0" rIns="0" bIns="0" rtlCol="0" anchor="ctr"/>
          <a:lstStyle/>
          <a:p>
            <a:pPr marL="0" indent="0">
              <a:buNone/>
            </a:pPr>
            <a:r>
              <a:rPr lang="en-US" sz="2600" b="1" dirty="0">
                <a:solidFill>
                  <a:srgbClr val="123B5D"/>
                </a:solidFill>
                <a:latin typeface="Aptos Display" pitchFamily="34" charset="0"/>
                <a:ea typeface="Aptos Display" pitchFamily="34" charset="-122"/>
                <a:cs typeface="Aptos Display" pitchFamily="34" charset="-120"/>
              </a:rPr>
              <a:t>5. What went well, and what did not go exactly to plan?</a:t>
            </a:r>
            <a:endParaRPr lang="en-US" sz="2600" dirty="0"/>
          </a:p>
        </p:txBody>
      </p:sp>
      <p:sp>
        <p:nvSpPr>
          <p:cNvPr id="3" name="Text 1"/>
          <p:cNvSpPr/>
          <p:nvPr/>
        </p:nvSpPr>
        <p:spPr>
          <a:xfrm>
            <a:off x="658368" y="841248"/>
            <a:ext cx="8046720" cy="256032"/>
          </a:xfrm>
          <a:prstGeom prst="rect">
            <a:avLst/>
          </a:prstGeom>
          <a:noFill/>
          <a:ln/>
        </p:spPr>
        <p:txBody>
          <a:bodyPr wrap="square" lIns="0" tIns="0" rIns="0" bIns="0" rtlCol="0" anchor="ctr"/>
          <a:lstStyle/>
          <a:p>
            <a:pPr marL="0" indent="0">
              <a:buNone/>
            </a:pPr>
            <a:r>
              <a:rPr lang="en-US" sz="1150" dirty="0">
                <a:solidFill>
                  <a:srgbClr val="5B6678"/>
                </a:solidFill>
              </a:rPr>
              <a:t>A good marker-facing reflection for the video</a:t>
            </a:r>
            <a:endParaRPr lang="en-US" sz="1150" dirty="0"/>
          </a:p>
        </p:txBody>
      </p:sp>
      <p:sp>
        <p:nvSpPr>
          <p:cNvPr id="4" name="Shape 2"/>
          <p:cNvSpPr/>
          <p:nvPr/>
        </p:nvSpPr>
        <p:spPr>
          <a:xfrm>
            <a:off x="822960" y="1463040"/>
            <a:ext cx="3657600" cy="4297680"/>
          </a:xfrm>
          <a:prstGeom prst="roundRect">
            <a:avLst>
              <a:gd name="adj" fmla="val 2000"/>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5" name="Shape 3"/>
          <p:cNvSpPr/>
          <p:nvPr/>
        </p:nvSpPr>
        <p:spPr>
          <a:xfrm>
            <a:off x="841248" y="1481328"/>
            <a:ext cx="73152" cy="4261104"/>
          </a:xfrm>
          <a:prstGeom prst="rect">
            <a:avLst/>
          </a:prstGeom>
          <a:solidFill>
            <a:srgbClr val="5B8C5A"/>
          </a:solidFill>
          <a:ln w="12700">
            <a:solidFill>
              <a:srgbClr val="5B8C5A"/>
            </a:solidFill>
            <a:prstDash val="solid"/>
          </a:ln>
        </p:spPr>
        <p:txBody>
          <a:bodyPr/>
          <a:lstStyle/>
          <a:p>
            <a:endParaRPr lang="zh-CN" altLang="en-US"/>
          </a:p>
        </p:txBody>
      </p:sp>
      <p:sp>
        <p:nvSpPr>
          <p:cNvPr id="6" name="Text 4"/>
          <p:cNvSpPr/>
          <p:nvPr/>
        </p:nvSpPr>
        <p:spPr>
          <a:xfrm>
            <a:off x="1024128" y="1627632"/>
            <a:ext cx="3337560" cy="274320"/>
          </a:xfrm>
          <a:prstGeom prst="rect">
            <a:avLst/>
          </a:prstGeom>
          <a:noFill/>
          <a:ln/>
        </p:spPr>
        <p:txBody>
          <a:bodyPr wrap="square" lIns="0" tIns="0" rIns="0" bIns="0" rtlCol="0" anchor="ctr"/>
          <a:lstStyle/>
          <a:p>
            <a:pPr marL="0" indent="0">
              <a:buNone/>
            </a:pPr>
            <a:r>
              <a:rPr lang="en-US" sz="1600" b="1" dirty="0">
                <a:solidFill>
                  <a:srgbClr val="1F2937"/>
                </a:solidFill>
              </a:rPr>
              <a:t>What went well</a:t>
            </a:r>
            <a:endParaRPr lang="en-US" sz="1600" dirty="0"/>
          </a:p>
        </p:txBody>
      </p:sp>
      <p:sp>
        <p:nvSpPr>
          <p:cNvPr id="7" name="Text 5"/>
          <p:cNvSpPr/>
          <p:nvPr/>
        </p:nvSpPr>
        <p:spPr>
          <a:xfrm>
            <a:off x="1024128" y="1975104"/>
            <a:ext cx="3337560" cy="3657600"/>
          </a:xfrm>
          <a:prstGeom prst="rect">
            <a:avLst/>
          </a:prstGeom>
          <a:noFill/>
          <a:ln/>
        </p:spPr>
        <p:txBody>
          <a:bodyPr wrap="square" lIns="127" tIns="127" rIns="127" bIns="127" rtlCol="0" anchor="t"/>
          <a:lstStyle/>
          <a:p>
            <a:pPr marL="0" indent="0">
              <a:buNone/>
            </a:pPr>
            <a:r>
              <a:rPr lang="en-US" sz="1600" dirty="0">
                <a:solidFill>
                  <a:srgbClr val="1F2937"/>
                </a:solidFill>
              </a:rPr>
              <a:t>• A complete end-to-end segmentation workflow was implemented: preprocessing, training, checkpointing and testing.</a:t>
            </a:r>
            <a:endParaRPr lang="en-US" sz="1600" dirty="0"/>
          </a:p>
          <a:p>
            <a:r>
              <a:rPr lang="en-US" sz="1600" dirty="0">
                <a:solidFill>
                  <a:srgbClr val="1F2937"/>
                </a:solidFill>
              </a:rPr>
              <a:t>• A clear model training plan, with progressively advancing model versions.</a:t>
            </a:r>
          </a:p>
          <a:p>
            <a:r>
              <a:rPr lang="en-US" sz="1600" dirty="0">
                <a:solidFill>
                  <a:srgbClr val="1F2937"/>
                </a:solidFill>
              </a:rPr>
              <a:t>• Since different types of U-Net exhibit varying performance on the training set, their fit to the </a:t>
            </a:r>
            <a:r>
              <a:rPr lang="en-US" sz="1600" dirty="0" err="1">
                <a:solidFill>
                  <a:srgbClr val="1F2937"/>
                </a:solidFill>
              </a:rPr>
              <a:t>cathaction</a:t>
            </a:r>
            <a:r>
              <a:rPr lang="en-US" sz="1600" dirty="0">
                <a:solidFill>
                  <a:srgbClr val="1F2937"/>
                </a:solidFill>
              </a:rPr>
              <a:t> dataset warrants further investigation.</a:t>
            </a:r>
            <a:endParaRPr lang="en-US" sz="1600" dirty="0"/>
          </a:p>
        </p:txBody>
      </p:sp>
      <p:sp>
        <p:nvSpPr>
          <p:cNvPr id="8" name="Shape 6"/>
          <p:cNvSpPr/>
          <p:nvPr/>
        </p:nvSpPr>
        <p:spPr>
          <a:xfrm>
            <a:off x="4617720" y="1463040"/>
            <a:ext cx="2788920" cy="4297680"/>
          </a:xfrm>
          <a:prstGeom prst="roundRect">
            <a:avLst>
              <a:gd name="adj" fmla="val 2623"/>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9" name="Shape 7"/>
          <p:cNvSpPr/>
          <p:nvPr/>
        </p:nvSpPr>
        <p:spPr>
          <a:xfrm>
            <a:off x="4636008" y="1481328"/>
            <a:ext cx="73152" cy="4261104"/>
          </a:xfrm>
          <a:prstGeom prst="rect">
            <a:avLst/>
          </a:prstGeom>
          <a:solidFill>
            <a:srgbClr val="E9C46A"/>
          </a:solidFill>
          <a:ln w="12700">
            <a:solidFill>
              <a:srgbClr val="E9C46A"/>
            </a:solidFill>
            <a:prstDash val="solid"/>
          </a:ln>
        </p:spPr>
        <p:txBody>
          <a:bodyPr/>
          <a:lstStyle/>
          <a:p>
            <a:endParaRPr lang="zh-CN" altLang="en-US"/>
          </a:p>
        </p:txBody>
      </p:sp>
      <p:sp>
        <p:nvSpPr>
          <p:cNvPr id="10" name="Text 8"/>
          <p:cNvSpPr/>
          <p:nvPr/>
        </p:nvSpPr>
        <p:spPr>
          <a:xfrm>
            <a:off x="4818888" y="1627632"/>
            <a:ext cx="2468880" cy="274320"/>
          </a:xfrm>
          <a:prstGeom prst="rect">
            <a:avLst/>
          </a:prstGeom>
          <a:noFill/>
          <a:ln/>
        </p:spPr>
        <p:txBody>
          <a:bodyPr wrap="square" lIns="0" tIns="0" rIns="0" bIns="0" rtlCol="0" anchor="ctr"/>
          <a:lstStyle/>
          <a:p>
            <a:pPr marL="0" indent="0">
              <a:buNone/>
            </a:pPr>
            <a:r>
              <a:rPr lang="en-US" sz="1600" b="1" dirty="0">
                <a:solidFill>
                  <a:srgbClr val="1F2937"/>
                </a:solidFill>
              </a:rPr>
              <a:t>What changed</a:t>
            </a:r>
            <a:endParaRPr lang="en-US" sz="1600" dirty="0"/>
          </a:p>
        </p:txBody>
      </p:sp>
      <p:sp>
        <p:nvSpPr>
          <p:cNvPr id="11" name="Text 9"/>
          <p:cNvSpPr/>
          <p:nvPr/>
        </p:nvSpPr>
        <p:spPr>
          <a:xfrm>
            <a:off x="4818888" y="1975104"/>
            <a:ext cx="2468880" cy="3657600"/>
          </a:xfrm>
          <a:prstGeom prst="rect">
            <a:avLst/>
          </a:prstGeom>
          <a:noFill/>
          <a:ln/>
        </p:spPr>
        <p:txBody>
          <a:bodyPr wrap="square" lIns="127" tIns="127" rIns="127" bIns="127" rtlCol="0" anchor="t"/>
          <a:lstStyle/>
          <a:p>
            <a:pPr marL="0" indent="0">
              <a:buNone/>
            </a:pPr>
            <a:r>
              <a:rPr lang="en-US" sz="1600" dirty="0">
                <a:solidFill>
                  <a:srgbClr val="1F2937"/>
                </a:solidFill>
              </a:rPr>
              <a:t>• Instead of stopping at one U-Net baseline, it expanded into a controlled comparison of four variants.</a:t>
            </a:r>
            <a:endParaRPr lang="en-US" sz="1600" dirty="0"/>
          </a:p>
          <a:p>
            <a:r>
              <a:rPr lang="en-US" sz="1600" dirty="0">
                <a:solidFill>
                  <a:srgbClr val="1F2937"/>
                </a:solidFill>
              </a:rPr>
              <a:t>•To find a prediction model that is better suited to X-ray images and to find an algorithmic solution.</a:t>
            </a:r>
            <a:endParaRPr lang="en-US" sz="1400" dirty="0"/>
          </a:p>
        </p:txBody>
      </p:sp>
      <p:sp>
        <p:nvSpPr>
          <p:cNvPr id="12" name="Shape 10"/>
          <p:cNvSpPr/>
          <p:nvPr/>
        </p:nvSpPr>
        <p:spPr>
          <a:xfrm>
            <a:off x="7552944" y="1463040"/>
            <a:ext cx="3749040" cy="4297680"/>
          </a:xfrm>
          <a:prstGeom prst="roundRect">
            <a:avLst>
              <a:gd name="adj" fmla="val 1951"/>
            </a:avLst>
          </a:prstGeom>
          <a:solidFill>
            <a:srgbClr val="FFFFFF"/>
          </a:solidFill>
          <a:ln w="12700">
            <a:solidFill>
              <a:srgbClr val="D7E1EA"/>
            </a:solidFill>
            <a:prstDash val="solid"/>
          </a:ln>
          <a:effectLst>
            <a:outerShdw blurRad="12700" dist="12700" dir="2700000" algn="bl" rotWithShape="0">
              <a:srgbClr val="000000">
                <a:alpha val="12000"/>
              </a:srgbClr>
            </a:outerShdw>
          </a:effectLst>
        </p:spPr>
        <p:txBody>
          <a:bodyPr/>
          <a:lstStyle/>
          <a:p>
            <a:endParaRPr lang="zh-CN" altLang="en-US"/>
          </a:p>
        </p:txBody>
      </p:sp>
      <p:sp>
        <p:nvSpPr>
          <p:cNvPr id="13" name="Shape 11"/>
          <p:cNvSpPr/>
          <p:nvPr/>
        </p:nvSpPr>
        <p:spPr>
          <a:xfrm>
            <a:off x="7571232" y="1481328"/>
            <a:ext cx="73152" cy="4261104"/>
          </a:xfrm>
          <a:prstGeom prst="rect">
            <a:avLst/>
          </a:prstGeom>
          <a:solidFill>
            <a:srgbClr val="E76F51"/>
          </a:solidFill>
          <a:ln w="12700">
            <a:solidFill>
              <a:srgbClr val="E76F51"/>
            </a:solidFill>
            <a:prstDash val="solid"/>
          </a:ln>
        </p:spPr>
        <p:txBody>
          <a:bodyPr/>
          <a:lstStyle/>
          <a:p>
            <a:endParaRPr lang="zh-CN" altLang="en-US"/>
          </a:p>
        </p:txBody>
      </p:sp>
      <p:sp>
        <p:nvSpPr>
          <p:cNvPr id="14" name="Text 12"/>
          <p:cNvSpPr/>
          <p:nvPr/>
        </p:nvSpPr>
        <p:spPr>
          <a:xfrm>
            <a:off x="7754112" y="1627632"/>
            <a:ext cx="3429000" cy="274320"/>
          </a:xfrm>
          <a:prstGeom prst="rect">
            <a:avLst/>
          </a:prstGeom>
          <a:noFill/>
          <a:ln/>
        </p:spPr>
        <p:txBody>
          <a:bodyPr wrap="square" lIns="0" tIns="0" rIns="0" bIns="0" rtlCol="0" anchor="ctr"/>
          <a:lstStyle/>
          <a:p>
            <a:pPr marL="0" indent="0">
              <a:buNone/>
            </a:pPr>
            <a:r>
              <a:rPr lang="en-US" sz="1600" b="1" dirty="0">
                <a:solidFill>
                  <a:srgbClr val="1F2937"/>
                </a:solidFill>
              </a:rPr>
              <a:t>Current limitation</a:t>
            </a:r>
            <a:endParaRPr lang="en-US" sz="1600" dirty="0"/>
          </a:p>
        </p:txBody>
      </p:sp>
      <p:sp>
        <p:nvSpPr>
          <p:cNvPr id="15" name="Text 13"/>
          <p:cNvSpPr/>
          <p:nvPr/>
        </p:nvSpPr>
        <p:spPr>
          <a:xfrm>
            <a:off x="7754112" y="1975104"/>
            <a:ext cx="3429000" cy="3657600"/>
          </a:xfrm>
          <a:prstGeom prst="rect">
            <a:avLst/>
          </a:prstGeom>
          <a:noFill/>
          <a:ln/>
        </p:spPr>
        <p:txBody>
          <a:bodyPr wrap="square" lIns="127" tIns="127" rIns="127" bIns="127" rtlCol="0" anchor="t"/>
          <a:lstStyle/>
          <a:p>
            <a:r>
              <a:rPr lang="en-US" sz="1600" dirty="0">
                <a:solidFill>
                  <a:srgbClr val="1F2937"/>
                </a:solidFill>
              </a:rPr>
              <a:t>• The accuracy improvement trend is not significant, which seems to be because the model and dataset have reached their limits, making further optimization impossible.</a:t>
            </a:r>
          </a:p>
          <a:p>
            <a:endParaRPr lang="en-US" sz="1600" dirty="0">
              <a:solidFill>
                <a:srgbClr val="1F2937"/>
              </a:solidFill>
            </a:endParaRPr>
          </a:p>
          <a:p>
            <a:r>
              <a:rPr lang="en-US" sz="1600" dirty="0">
                <a:solidFill>
                  <a:srgbClr val="1F2937"/>
                </a:solidFill>
              </a:rPr>
              <a:t>• The performance optimization mentioned in the research proposal is very difficult to achieve, and such a task cannot be completed at this stage of learning.</a:t>
            </a:r>
            <a:endParaRPr lang="en-US" sz="1600" dirty="0"/>
          </a:p>
        </p:txBody>
      </p:sp>
      <p:sp>
        <p:nvSpPr>
          <p:cNvPr id="25" name="Slide Number Placeholder 0"/>
          <p:cNvSpPr>
            <a:spLocks noGrp="1"/>
          </p:cNvSpPr>
          <p:nvPr>
            <p:ph type="sldNum" sz="quarter" idx="4294967295"/>
          </p:nvPr>
        </p:nvSpPr>
        <p:spPr>
          <a:xfrm>
            <a:off x="11612880" y="6574536"/>
            <a:ext cx="36576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1243</TotalTime>
  <Words>1756</Words>
  <Application>Microsoft Office PowerPoint</Application>
  <PresentationFormat>宽屏</PresentationFormat>
  <Paragraphs>149</Paragraphs>
  <Slides>9</Slides>
  <Notes>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9</vt:i4>
      </vt:variant>
    </vt:vector>
  </HeadingPairs>
  <TitlesOfParts>
    <vt:vector size="13" baseType="lpstr">
      <vt:lpstr>Aptos</vt:lpstr>
      <vt:lpstr>Aptos Display</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Catheter Segmentation with U-Net Variants</dc:title>
  <dc:subject>FYP presentation</dc:subject>
  <dc:creator>OpenAI</dc:creator>
  <cp:lastModifiedBy>凯杰 杨</cp:lastModifiedBy>
  <cp:revision>23</cp:revision>
  <dcterms:created xsi:type="dcterms:W3CDTF">2026-04-11T22:31:33Z</dcterms:created>
  <dcterms:modified xsi:type="dcterms:W3CDTF">2026-04-16T19:31:44Z</dcterms:modified>
</cp:coreProperties>
</file>